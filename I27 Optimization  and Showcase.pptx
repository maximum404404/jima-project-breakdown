
<file path=[Content_Types].xml><?xml version="1.0" encoding="utf-8"?>
<Types xmlns="http://schemas.openxmlformats.org/package/2006/content-types">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9.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59"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Lst>
  <p:sldSz cy="5143500" cx="9144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BB671803-D0E6-41DD-8D27-9BE71D5C2A9A}">
  <a:tblStyle styleId="{BB671803-D0E6-41DD-8D27-9BE71D5C2A9A}" styleName="Table_0">
    <a:wholeTbl>
      <a:tcTxStyle>
        <a:font>
          <a:latin typeface="Arial"/>
          <a:ea typeface="Arial"/>
          <a:cs typeface="Arial"/>
        </a:font>
        <a:srgbClr val="000000"/>
      </a:tcTx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slide" Target="slides/slide14.xml"/><Relationship Id="rId22" Type="http://schemas.openxmlformats.org/officeDocument/2006/relationships/slide" Target="slides/slide16.xml"/><Relationship Id="rId21" Type="http://schemas.openxmlformats.org/officeDocument/2006/relationships/slide" Target="slides/slide15.xml"/><Relationship Id="rId24" Type="http://schemas.openxmlformats.org/officeDocument/2006/relationships/slide" Target="slides/slide18.xml"/><Relationship Id="rId23" Type="http://schemas.openxmlformats.org/officeDocument/2006/relationships/slide" Target="slides/slide17.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3.xml"/><Relationship Id="rId26" Type="http://schemas.openxmlformats.org/officeDocument/2006/relationships/slide" Target="slides/slide20.xml"/><Relationship Id="rId25" Type="http://schemas.openxmlformats.org/officeDocument/2006/relationships/slide" Target="slides/slide19.xml"/><Relationship Id="rId27" Type="http://schemas.openxmlformats.org/officeDocument/2006/relationships/slide" Target="slides/slide21.xml"/><Relationship Id="rId5" Type="http://schemas.openxmlformats.org/officeDocument/2006/relationships/slideMaster" Target="slideMasters/slideMaster1.xml"/><Relationship Id="rId6" Type="http://schemas.openxmlformats.org/officeDocument/2006/relationships/notesMaster" Target="notesMasters/notesMaster1.xml"/><Relationship Id="rId7" Type="http://schemas.openxmlformats.org/officeDocument/2006/relationships/slide" Target="slides/slide1.xml"/><Relationship Id="rId8" Type="http://schemas.openxmlformats.org/officeDocument/2006/relationships/slide" Target="slides/slide2.xml"/><Relationship Id="rId11" Type="http://schemas.openxmlformats.org/officeDocument/2006/relationships/slide" Target="slides/slide5.xml"/><Relationship Id="rId10" Type="http://schemas.openxmlformats.org/officeDocument/2006/relationships/slide" Target="slides/slide4.xml"/><Relationship Id="rId13" Type="http://schemas.openxmlformats.org/officeDocument/2006/relationships/slide" Target="slides/slide7.xml"/><Relationship Id="rId12" Type="http://schemas.openxmlformats.org/officeDocument/2006/relationships/slide" Target="slides/slide6.xml"/><Relationship Id="rId15" Type="http://schemas.openxmlformats.org/officeDocument/2006/relationships/slide" Target="slides/slide9.xml"/><Relationship Id="rId14" Type="http://schemas.openxmlformats.org/officeDocument/2006/relationships/slide" Target="slides/slide8.xml"/><Relationship Id="rId17" Type="http://schemas.openxmlformats.org/officeDocument/2006/relationships/slide" Target="slides/slide11.xml"/><Relationship Id="rId16" Type="http://schemas.openxmlformats.org/officeDocument/2006/relationships/slide" Target="slides/slide10.xml"/><Relationship Id="rId19" Type="http://schemas.openxmlformats.org/officeDocument/2006/relationships/slide" Target="slides/slide13.xml"/><Relationship Id="rId18"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 name="Shape 50"/>
        <p:cNvGrpSpPr/>
        <p:nvPr/>
      </p:nvGrpSpPr>
      <p:grpSpPr>
        <a:xfrm>
          <a:off x="0" y="0"/>
          <a:ext cx="0" cy="0"/>
          <a:chOff x="0" y="0"/>
          <a:chExt cx="0" cy="0"/>
        </a:xfrm>
      </p:grpSpPr>
      <p:sp>
        <p:nvSpPr>
          <p:cNvPr id="51" name="Google Shape;51;p: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2" name="Google Shape;52;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 name="Shape 56"/>
        <p:cNvGrpSpPr/>
        <p:nvPr/>
      </p:nvGrpSpPr>
      <p:grpSpPr>
        <a:xfrm>
          <a:off x="0" y="0"/>
          <a:ext cx="0" cy="0"/>
          <a:chOff x="0" y="0"/>
          <a:chExt cx="0" cy="0"/>
        </a:xfrm>
      </p:grpSpPr>
      <p:sp>
        <p:nvSpPr>
          <p:cNvPr id="57" name="Google Shape;57;g3f75c7a2970_0_122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8" name="Google Shape;58;g3f75c7a2970_0_122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2" name="Shape 62"/>
        <p:cNvGrpSpPr/>
        <p:nvPr/>
      </p:nvGrpSpPr>
      <p:grpSpPr>
        <a:xfrm>
          <a:off x="0" y="0"/>
          <a:ext cx="0" cy="0"/>
          <a:chOff x="0" y="0"/>
          <a:chExt cx="0" cy="0"/>
        </a:xfrm>
      </p:grpSpPr>
      <p:sp>
        <p:nvSpPr>
          <p:cNvPr id="63" name="Google Shape;63;g3f75c7a2970_0_124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4" name="Google Shape;64;g3f75c7a2970_0_124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9" name="Shape 69"/>
        <p:cNvGrpSpPr/>
        <p:nvPr/>
      </p:nvGrpSpPr>
      <p:grpSpPr>
        <a:xfrm>
          <a:off x="0" y="0"/>
          <a:ext cx="0" cy="0"/>
          <a:chOff x="0" y="0"/>
          <a:chExt cx="0" cy="0"/>
        </a:xfrm>
      </p:grpSpPr>
      <p:sp>
        <p:nvSpPr>
          <p:cNvPr id="70" name="Google Shape;70;g3f75c7a2970_0_122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1" name="Google Shape;71;g3f75c7a2970_0_122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8" name="Shape 78"/>
        <p:cNvGrpSpPr/>
        <p:nvPr/>
      </p:nvGrpSpPr>
      <p:grpSpPr>
        <a:xfrm>
          <a:off x="0" y="0"/>
          <a:ext cx="0" cy="0"/>
          <a:chOff x="0" y="0"/>
          <a:chExt cx="0" cy="0"/>
        </a:xfrm>
      </p:grpSpPr>
      <p:sp>
        <p:nvSpPr>
          <p:cNvPr id="79" name="Google Shape;79;g3f75c7a2970_0_132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0" name="Google Shape;80;g3f75c7a2970_0_132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5" name="Shape 85"/>
        <p:cNvGrpSpPr/>
        <p:nvPr/>
      </p:nvGrpSpPr>
      <p:grpSpPr>
        <a:xfrm>
          <a:off x="0" y="0"/>
          <a:ext cx="0" cy="0"/>
          <a:chOff x="0" y="0"/>
          <a:chExt cx="0" cy="0"/>
        </a:xfrm>
      </p:grpSpPr>
      <p:sp>
        <p:nvSpPr>
          <p:cNvPr id="86" name="Google Shape;86;g3f3efd658bc_0_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7" name="Google Shape;87;g3f3efd658bc_0_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0" name="Shape 90"/>
        <p:cNvGrpSpPr/>
        <p:nvPr/>
      </p:nvGrpSpPr>
      <p:grpSpPr>
        <a:xfrm>
          <a:off x="0" y="0"/>
          <a:ext cx="0" cy="0"/>
          <a:chOff x="0" y="0"/>
          <a:chExt cx="0" cy="0"/>
        </a:xfrm>
      </p:grpSpPr>
      <p:sp>
        <p:nvSpPr>
          <p:cNvPr id="91" name="Google Shape;91;g3f75c7a2970_0_126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2" name="Google Shape;92;g3f75c7a2970_0_126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7" name="Shape 97"/>
        <p:cNvGrpSpPr/>
        <p:nvPr/>
      </p:nvGrpSpPr>
      <p:grpSpPr>
        <a:xfrm>
          <a:off x="0" y="0"/>
          <a:ext cx="0" cy="0"/>
          <a:chOff x="0" y="0"/>
          <a:chExt cx="0" cy="0"/>
        </a:xfrm>
      </p:grpSpPr>
      <p:sp>
        <p:nvSpPr>
          <p:cNvPr id="98" name="Google Shape;98;g3f3efd658bc_0_1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9" name="Google Shape;99;g3f3efd658bc_0_1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3" name="Shape 103"/>
        <p:cNvGrpSpPr/>
        <p:nvPr/>
      </p:nvGrpSpPr>
      <p:grpSpPr>
        <a:xfrm>
          <a:off x="0" y="0"/>
          <a:ext cx="0" cy="0"/>
          <a:chOff x="0" y="0"/>
          <a:chExt cx="0" cy="0"/>
        </a:xfrm>
      </p:grpSpPr>
      <p:sp>
        <p:nvSpPr>
          <p:cNvPr id="104" name="Google Shape;104;g3f75c7a2970_0_125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5" name="Google Shape;105;g3f75c7a2970_0_125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9" name="Shape 109"/>
        <p:cNvGrpSpPr/>
        <p:nvPr/>
      </p:nvGrpSpPr>
      <p:grpSpPr>
        <a:xfrm>
          <a:off x="0" y="0"/>
          <a:ext cx="0" cy="0"/>
          <a:chOff x="0" y="0"/>
          <a:chExt cx="0" cy="0"/>
        </a:xfrm>
      </p:grpSpPr>
      <p:sp>
        <p:nvSpPr>
          <p:cNvPr id="110" name="Google Shape;110;g3f75c7a2970_0_126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1" name="Google Shape;111;g3f75c7a2970_0_126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5" name="Shape 115"/>
        <p:cNvGrpSpPr/>
        <p:nvPr/>
      </p:nvGrpSpPr>
      <p:grpSpPr>
        <a:xfrm>
          <a:off x="0" y="0"/>
          <a:ext cx="0" cy="0"/>
          <a:chOff x="0" y="0"/>
          <a:chExt cx="0" cy="0"/>
        </a:xfrm>
      </p:grpSpPr>
      <p:sp>
        <p:nvSpPr>
          <p:cNvPr id="116" name="Google Shape;116;g3f3ebeea2ad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7" name="Google Shape;117;g3f3ebeea2ad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1" name="Shape 121"/>
        <p:cNvGrpSpPr/>
        <p:nvPr/>
      </p:nvGrpSpPr>
      <p:grpSpPr>
        <a:xfrm>
          <a:off x="0" y="0"/>
          <a:ext cx="0" cy="0"/>
          <a:chOff x="0" y="0"/>
          <a:chExt cx="0" cy="0"/>
        </a:xfrm>
      </p:grpSpPr>
      <p:sp>
        <p:nvSpPr>
          <p:cNvPr id="122" name="Google Shape;122;g3f75c7a2970_0_131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3" name="Google Shape;123;g3f75c7a2970_0_131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6" name="Shape 126"/>
        <p:cNvGrpSpPr/>
        <p:nvPr/>
      </p:nvGrpSpPr>
      <p:grpSpPr>
        <a:xfrm>
          <a:off x="0" y="0"/>
          <a:ext cx="0" cy="0"/>
          <a:chOff x="0" y="0"/>
          <a:chExt cx="0" cy="0"/>
        </a:xfrm>
      </p:grpSpPr>
      <p:sp>
        <p:nvSpPr>
          <p:cNvPr id="127" name="Google Shape;127;g3f75c7a2970_0_127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8" name="Google Shape;128;g3f75c7a2970_0_127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2" name="Shape 132"/>
        <p:cNvGrpSpPr/>
        <p:nvPr/>
      </p:nvGrpSpPr>
      <p:grpSpPr>
        <a:xfrm>
          <a:off x="0" y="0"/>
          <a:ext cx="0" cy="0"/>
          <a:chOff x="0" y="0"/>
          <a:chExt cx="0" cy="0"/>
        </a:xfrm>
      </p:grpSpPr>
      <p:sp>
        <p:nvSpPr>
          <p:cNvPr id="133" name="Google Shape;133;g3f3efd658bc_0_3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4" name="Google Shape;134;g3f3efd658bc_0_3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7" name="Shape 137"/>
        <p:cNvGrpSpPr/>
        <p:nvPr/>
      </p:nvGrpSpPr>
      <p:grpSpPr>
        <a:xfrm>
          <a:off x="0" y="0"/>
          <a:ext cx="0" cy="0"/>
          <a:chOff x="0" y="0"/>
          <a:chExt cx="0" cy="0"/>
        </a:xfrm>
      </p:grpSpPr>
      <p:sp>
        <p:nvSpPr>
          <p:cNvPr id="138" name="Google Shape;138;g3f75c7a2970_0_128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9" name="Google Shape;139;g3f75c7a2970_0_128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3" name="Shape 143"/>
        <p:cNvGrpSpPr/>
        <p:nvPr/>
      </p:nvGrpSpPr>
      <p:grpSpPr>
        <a:xfrm>
          <a:off x="0" y="0"/>
          <a:ext cx="0" cy="0"/>
          <a:chOff x="0" y="0"/>
          <a:chExt cx="0" cy="0"/>
        </a:xfrm>
      </p:grpSpPr>
      <p:sp>
        <p:nvSpPr>
          <p:cNvPr id="144" name="Google Shape;144;g3f3ebeea2ad_0_1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5" name="Google Shape;145;g3f3ebeea2ad_0_1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9" name="Shape 149"/>
        <p:cNvGrpSpPr/>
        <p:nvPr/>
      </p:nvGrpSpPr>
      <p:grpSpPr>
        <a:xfrm>
          <a:off x="0" y="0"/>
          <a:ext cx="0" cy="0"/>
          <a:chOff x="0" y="0"/>
          <a:chExt cx="0" cy="0"/>
        </a:xfrm>
      </p:grpSpPr>
      <p:sp>
        <p:nvSpPr>
          <p:cNvPr id="150" name="Google Shape;150;g3f3efd658bc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1" name="Google Shape;151;g3f3efd658bc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6" name="Shape 156"/>
        <p:cNvGrpSpPr/>
        <p:nvPr/>
      </p:nvGrpSpPr>
      <p:grpSpPr>
        <a:xfrm>
          <a:off x="0" y="0"/>
          <a:ext cx="0" cy="0"/>
          <a:chOff x="0" y="0"/>
          <a:chExt cx="0" cy="0"/>
        </a:xfrm>
      </p:grpSpPr>
      <p:sp>
        <p:nvSpPr>
          <p:cNvPr id="157" name="Google Shape;157;g3f75c7a2970_0_128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8" name="Google Shape;158;g3f75c7a2970_0_128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3" name="Shape 163"/>
        <p:cNvGrpSpPr/>
        <p:nvPr/>
      </p:nvGrpSpPr>
      <p:grpSpPr>
        <a:xfrm>
          <a:off x="0" y="0"/>
          <a:ext cx="0" cy="0"/>
          <a:chOff x="0" y="0"/>
          <a:chExt cx="0" cy="0"/>
        </a:xfrm>
      </p:grpSpPr>
      <p:sp>
        <p:nvSpPr>
          <p:cNvPr id="164" name="Google Shape;164;g3f75c7a2970_0_129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5" name="Google Shape;165;g3f75c7a2970_0_129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1" name="Shape 171"/>
        <p:cNvGrpSpPr/>
        <p:nvPr/>
      </p:nvGrpSpPr>
      <p:grpSpPr>
        <a:xfrm>
          <a:off x="0" y="0"/>
          <a:ext cx="0" cy="0"/>
          <a:chOff x="0" y="0"/>
          <a:chExt cx="0" cy="0"/>
        </a:xfrm>
      </p:grpSpPr>
      <p:sp>
        <p:nvSpPr>
          <p:cNvPr id="172" name="Google Shape;172;g3f75c7a2970_0_132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3" name="Google Shape;173;g3f75c7a2970_0_132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7" name="Shape 177"/>
        <p:cNvGrpSpPr/>
        <p:nvPr/>
      </p:nvGrpSpPr>
      <p:grpSpPr>
        <a:xfrm>
          <a:off x="0" y="0"/>
          <a:ext cx="0" cy="0"/>
          <a:chOff x="0" y="0"/>
          <a:chExt cx="0" cy="0"/>
        </a:xfrm>
      </p:grpSpPr>
      <p:sp>
        <p:nvSpPr>
          <p:cNvPr id="178" name="Google Shape;178;g3f75c7a2970_0_133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9" name="Google Shape;179;g3f75c7a2970_0_133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0"/>
              </a:spcBef>
              <a:spcAft>
                <a:spcPts val="0"/>
              </a:spcAft>
              <a:buClr>
                <a:schemeClr val="dk2"/>
              </a:buClr>
              <a:buSzPts val="1400"/>
              <a:buChar char="○"/>
              <a:defRPr>
                <a:solidFill>
                  <a:schemeClr val="dk2"/>
                </a:solidFill>
              </a:defRPr>
            </a:lvl2pPr>
            <a:lvl3pPr indent="-317500" lvl="2" marL="1371600">
              <a:lnSpc>
                <a:spcPct val="115000"/>
              </a:lnSpc>
              <a:spcBef>
                <a:spcPts val="0"/>
              </a:spcBef>
              <a:spcAft>
                <a:spcPts val="0"/>
              </a:spcAft>
              <a:buClr>
                <a:schemeClr val="dk2"/>
              </a:buClr>
              <a:buSzPts val="1400"/>
              <a:buChar char="■"/>
              <a:defRPr>
                <a:solidFill>
                  <a:schemeClr val="dk2"/>
                </a:solidFill>
              </a:defRPr>
            </a:lvl3pPr>
            <a:lvl4pPr indent="-317500" lvl="3" marL="1828800">
              <a:lnSpc>
                <a:spcPct val="115000"/>
              </a:lnSpc>
              <a:spcBef>
                <a:spcPts val="0"/>
              </a:spcBef>
              <a:spcAft>
                <a:spcPts val="0"/>
              </a:spcAft>
              <a:buClr>
                <a:schemeClr val="dk2"/>
              </a:buClr>
              <a:buSzPts val="1400"/>
              <a:buChar char="●"/>
              <a:defRPr>
                <a:solidFill>
                  <a:schemeClr val="dk2"/>
                </a:solidFill>
              </a:defRPr>
            </a:lvl4pPr>
            <a:lvl5pPr indent="-317500" lvl="4" marL="2286000">
              <a:lnSpc>
                <a:spcPct val="115000"/>
              </a:lnSpc>
              <a:spcBef>
                <a:spcPts val="0"/>
              </a:spcBef>
              <a:spcAft>
                <a:spcPts val="0"/>
              </a:spcAft>
              <a:buClr>
                <a:schemeClr val="dk2"/>
              </a:buClr>
              <a:buSzPts val="1400"/>
              <a:buChar char="○"/>
              <a:defRPr>
                <a:solidFill>
                  <a:schemeClr val="dk2"/>
                </a:solidFill>
              </a:defRPr>
            </a:lvl5pPr>
            <a:lvl6pPr indent="-317500" lvl="5" marL="2743200">
              <a:lnSpc>
                <a:spcPct val="115000"/>
              </a:lnSpc>
              <a:spcBef>
                <a:spcPts val="0"/>
              </a:spcBef>
              <a:spcAft>
                <a:spcPts val="0"/>
              </a:spcAft>
              <a:buClr>
                <a:schemeClr val="dk2"/>
              </a:buClr>
              <a:buSzPts val="1400"/>
              <a:buChar char="■"/>
              <a:defRPr>
                <a:solidFill>
                  <a:schemeClr val="dk2"/>
                </a:solidFill>
              </a:defRPr>
            </a:lvl6pPr>
            <a:lvl7pPr indent="-317500" lvl="6" marL="3200400">
              <a:lnSpc>
                <a:spcPct val="115000"/>
              </a:lnSpc>
              <a:spcBef>
                <a:spcPts val="0"/>
              </a:spcBef>
              <a:spcAft>
                <a:spcPts val="0"/>
              </a:spcAft>
              <a:buClr>
                <a:schemeClr val="dk2"/>
              </a:buClr>
              <a:buSzPts val="1400"/>
              <a:buChar char="●"/>
              <a:defRPr>
                <a:solidFill>
                  <a:schemeClr val="dk2"/>
                </a:solidFill>
              </a:defRPr>
            </a:lvl7pPr>
            <a:lvl8pPr indent="-317500" lvl="7" marL="3657600">
              <a:lnSpc>
                <a:spcPct val="115000"/>
              </a:lnSpc>
              <a:spcBef>
                <a:spcPts val="0"/>
              </a:spcBef>
              <a:spcAft>
                <a:spcPts val="0"/>
              </a:spcAft>
              <a:buClr>
                <a:schemeClr val="dk2"/>
              </a:buClr>
              <a:buSzPts val="1400"/>
              <a:buChar char="○"/>
              <a:defRPr>
                <a:solidFill>
                  <a:schemeClr val="dk2"/>
                </a:solidFill>
              </a:defRPr>
            </a:lvl8pPr>
            <a:lvl9pPr indent="-317500" lvl="8" marL="4114800">
              <a:lnSpc>
                <a:spcPct val="115000"/>
              </a:lnSpc>
              <a:spcBef>
                <a:spcPts val="0"/>
              </a:spcBef>
              <a:spcAft>
                <a:spcPts val="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 Id="rId3" Type="http://schemas.openxmlformats.org/officeDocument/2006/relationships/image" Target="../media/image13.png"/><Relationship Id="rId4" Type="http://schemas.openxmlformats.org/officeDocument/2006/relationships/image" Target="../media/image3.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 Id="rId3" Type="http://schemas.openxmlformats.org/officeDocument/2006/relationships/image" Target="../media/image8.png"/><Relationship Id="rId4" Type="http://schemas.openxmlformats.org/officeDocument/2006/relationships/image" Target="../media/image5.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 Id="rId3" Type="http://schemas.openxmlformats.org/officeDocument/2006/relationships/image" Target="../media/image9.png"/><Relationship Id="rId4" Type="http://schemas.openxmlformats.org/officeDocument/2006/relationships/image" Target="../media/image10.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 Id="rId3" Type="http://schemas.openxmlformats.org/officeDocument/2006/relationships/image" Target="../media/image1.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 Id="rId3" Type="http://schemas.openxmlformats.org/officeDocument/2006/relationships/image" Target="../media/image6.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 Id="rId3" Type="http://schemas.openxmlformats.org/officeDocument/2006/relationships/image" Target="../media/image2.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 Id="rId3" Type="http://schemas.openxmlformats.org/officeDocument/2006/relationships/image" Target="../media/image7.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 Id="rId3" Type="http://schemas.openxmlformats.org/officeDocument/2006/relationships/image" Target="../media/image11.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 Id="rId3" Type="http://schemas.openxmlformats.org/officeDocument/2006/relationships/image" Target="../media/image12.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 Id="rId3" Type="http://schemas.openxmlformats.org/officeDocument/2006/relationships/image" Target="../media/image15.png"/><Relationship Id="rId4" Type="http://schemas.openxmlformats.org/officeDocument/2006/relationships/image" Target="../media/image4.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0.xml"/><Relationship Id="rId3" Type="http://schemas.openxmlformats.org/officeDocument/2006/relationships/image" Target="../media/image14.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1.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 name="Shape 53"/>
        <p:cNvGrpSpPr/>
        <p:nvPr/>
      </p:nvGrpSpPr>
      <p:grpSpPr>
        <a:xfrm>
          <a:off x="0" y="0"/>
          <a:ext cx="0" cy="0"/>
          <a:chOff x="0" y="0"/>
          <a:chExt cx="0" cy="0"/>
        </a:xfrm>
      </p:grpSpPr>
      <p:sp>
        <p:nvSpPr>
          <p:cNvPr id="54" name="Google Shape;54;p13"/>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p>
            <a:pPr indent="0" lvl="0" marL="0" rtl="0" algn="ctr">
              <a:spcBef>
                <a:spcPts val="0"/>
              </a:spcBef>
              <a:spcAft>
                <a:spcPts val="0"/>
              </a:spcAft>
              <a:buNone/>
            </a:pPr>
            <a:r>
              <a:rPr i="1" lang="en" sz="4100">
                <a:latin typeface="Impact"/>
                <a:ea typeface="Impact"/>
                <a:cs typeface="Impact"/>
                <a:sym typeface="Impact"/>
              </a:rPr>
              <a:t>JIMA</a:t>
            </a:r>
            <a:r>
              <a:rPr lang="en" sz="4100">
                <a:latin typeface="Impact"/>
                <a:ea typeface="Impact"/>
                <a:cs typeface="Impact"/>
                <a:sym typeface="Impact"/>
              </a:rPr>
              <a:t> — Technical Art &amp; Lighting Optimization </a:t>
            </a:r>
            <a:endParaRPr sz="8200">
              <a:latin typeface="Impact"/>
              <a:ea typeface="Impact"/>
              <a:cs typeface="Impact"/>
              <a:sym typeface="Impact"/>
            </a:endParaRPr>
          </a:p>
        </p:txBody>
      </p:sp>
      <p:sp>
        <p:nvSpPr>
          <p:cNvPr id="55" name="Google Shape;55;p13"/>
          <p:cNvSpPr txBox="1"/>
          <p:nvPr>
            <p:ph idx="1" type="subTitle"/>
          </p:nvPr>
        </p:nvSpPr>
        <p:spPr>
          <a:xfrm>
            <a:off x="311700" y="3148625"/>
            <a:ext cx="8520600" cy="14160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i="1" lang="en" sz="1500">
                <a:solidFill>
                  <a:srgbClr val="C2BAA3"/>
                </a:solidFill>
                <a:highlight>
                  <a:srgbClr val="171410"/>
                </a:highlight>
              </a:rPr>
              <a:t>“</a:t>
            </a:r>
            <a:r>
              <a:rPr i="1" lang="en" sz="1500">
                <a:solidFill>
                  <a:srgbClr val="C2BAA3"/>
                </a:solidFill>
                <a:highlight>
                  <a:srgbClr val="171410"/>
                </a:highlight>
              </a:rPr>
              <a:t>MegaLights is production-ready in UE 5.8 — many dynamic shadow-casting lights that used to be too expensive are now affordable. Relight a slice of JIMA so its lanterns, torches and the lantern-spirit cast real dynamic shadows, and lock a MegaLights + Lumen Lite profile that holds 60fps on PS5. The whole game is lantern-lit dread and the design worried about lighting cost — 5.8 removes that constraint.”</a:t>
            </a:r>
            <a:r>
              <a:rPr lang="en" sz="1700">
                <a:solidFill>
                  <a:schemeClr val="dk1"/>
                </a:solidFill>
              </a:rPr>
              <a:t> </a:t>
            </a:r>
            <a:endParaRPr sz="3400"/>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9" name="Shape 59"/>
        <p:cNvGrpSpPr/>
        <p:nvPr/>
      </p:nvGrpSpPr>
      <p:grpSpPr>
        <a:xfrm>
          <a:off x="0" y="0"/>
          <a:ext cx="0" cy="0"/>
          <a:chOff x="0" y="0"/>
          <a:chExt cx="0" cy="0"/>
        </a:xfrm>
      </p:grpSpPr>
      <p:sp>
        <p:nvSpPr>
          <p:cNvPr id="60" name="Google Shape;60;p1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i="1" lang="en" sz="2200"/>
              <a:t>JIMA</a:t>
            </a:r>
            <a:r>
              <a:rPr lang="en" sz="2200"/>
              <a:t> — Technical Art &amp; Lighting Optimization </a:t>
            </a:r>
            <a:endParaRPr sz="3900"/>
          </a:p>
        </p:txBody>
      </p:sp>
      <p:sp>
        <p:nvSpPr>
          <p:cNvPr id="61" name="Google Shape;61;p1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solidFill>
                  <a:schemeClr val="dk1"/>
                </a:solidFill>
              </a:rPr>
              <a:t>I am a Technical Artist Working on MegaLights, Lumen Lite, Hardware Ray Tracing within Unreal Engine 5.8</a:t>
            </a:r>
            <a:endParaRPr>
              <a:solidFill>
                <a:schemeClr val="dk1"/>
              </a:solidFill>
            </a:endParaRPr>
          </a:p>
          <a:p>
            <a:pPr indent="0" lvl="0" marL="0" rtl="0" algn="l">
              <a:spcBef>
                <a:spcPts val="1200"/>
              </a:spcBef>
              <a:spcAft>
                <a:spcPts val="0"/>
              </a:spcAft>
              <a:buNone/>
            </a:pPr>
            <a:r>
              <a:t/>
            </a:r>
            <a:endParaRPr/>
          </a:p>
          <a:p>
            <a:pPr indent="0" lvl="0" marL="0" rtl="0" algn="l">
              <a:spcBef>
                <a:spcPts val="1200"/>
              </a:spcBef>
              <a:spcAft>
                <a:spcPts val="1200"/>
              </a:spcAft>
              <a:buNone/>
            </a:pPr>
            <a:r>
              <a:rPr lang="en">
                <a:solidFill>
                  <a:schemeClr val="dk1"/>
                </a:solidFill>
              </a:rPr>
              <a:t>The target platform is PS5 with a locked FPS of 60</a:t>
            </a:r>
            <a:endParaRPr>
              <a:solidFill>
                <a:schemeClr val="dk1"/>
              </a:solidFill>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5" name="Shape 65"/>
        <p:cNvGrpSpPr/>
        <p:nvPr/>
      </p:nvGrpSpPr>
      <p:grpSpPr>
        <a:xfrm>
          <a:off x="0" y="0"/>
          <a:ext cx="0" cy="0"/>
          <a:chOff x="0" y="0"/>
          <a:chExt cx="0" cy="0"/>
        </a:xfrm>
      </p:grpSpPr>
      <p:sp>
        <p:nvSpPr>
          <p:cNvPr id="66" name="Google Shape;66;p15"/>
          <p:cNvSpPr txBox="1"/>
          <p:nvPr>
            <p:ph type="title"/>
          </p:nvPr>
        </p:nvSpPr>
        <p:spPr>
          <a:xfrm>
            <a:off x="157900" y="193325"/>
            <a:ext cx="88971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SzPts val="990"/>
              <a:buNone/>
            </a:pPr>
            <a:r>
              <a:rPr b="1" lang="en" sz="1620" u="sng"/>
              <a:t>Here is some examples of horror </a:t>
            </a:r>
            <a:r>
              <a:rPr b="1" lang="en" sz="1620" u="sng"/>
              <a:t>lighting in games vs the level I worked on (At the start)</a:t>
            </a:r>
            <a:endParaRPr b="1" sz="1620" u="sng"/>
          </a:p>
        </p:txBody>
      </p:sp>
      <p:pic>
        <p:nvPicPr>
          <p:cNvPr id="67" name="Google Shape;67;p15"/>
          <p:cNvPicPr preferRelativeResize="0"/>
          <p:nvPr/>
        </p:nvPicPr>
        <p:blipFill rotWithShape="1">
          <a:blip r:embed="rId3">
            <a:alphaModFix/>
          </a:blip>
          <a:srcRect b="0" l="16528" r="0" t="0"/>
          <a:stretch/>
        </p:blipFill>
        <p:spPr>
          <a:xfrm>
            <a:off x="0" y="907475"/>
            <a:ext cx="4572001" cy="2925815"/>
          </a:xfrm>
          <a:prstGeom prst="rect">
            <a:avLst/>
          </a:prstGeom>
          <a:noFill/>
          <a:ln>
            <a:noFill/>
          </a:ln>
        </p:spPr>
      </p:pic>
      <p:pic>
        <p:nvPicPr>
          <p:cNvPr id="68" name="Google Shape;68;p15"/>
          <p:cNvPicPr preferRelativeResize="0"/>
          <p:nvPr/>
        </p:nvPicPr>
        <p:blipFill>
          <a:blip r:embed="rId4">
            <a:alphaModFix/>
          </a:blip>
          <a:stretch>
            <a:fillRect/>
          </a:stretch>
        </p:blipFill>
        <p:spPr>
          <a:xfrm>
            <a:off x="4724401" y="918425"/>
            <a:ext cx="4267200" cy="2685041"/>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2" name="Shape 72"/>
        <p:cNvGrpSpPr/>
        <p:nvPr/>
      </p:nvGrpSpPr>
      <p:grpSpPr>
        <a:xfrm>
          <a:off x="0" y="0"/>
          <a:ext cx="0" cy="0"/>
          <a:chOff x="0" y="0"/>
          <a:chExt cx="0" cy="0"/>
        </a:xfrm>
      </p:grpSpPr>
      <p:sp>
        <p:nvSpPr>
          <p:cNvPr id="73" name="Google Shape;73;p16"/>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How it started vs how it looks now</a:t>
            </a:r>
            <a:endParaRPr/>
          </a:p>
        </p:txBody>
      </p:sp>
      <p:pic>
        <p:nvPicPr>
          <p:cNvPr id="74" name="Google Shape;74;p16"/>
          <p:cNvPicPr preferRelativeResize="0"/>
          <p:nvPr/>
        </p:nvPicPr>
        <p:blipFill>
          <a:blip r:embed="rId3">
            <a:alphaModFix/>
          </a:blip>
          <a:stretch>
            <a:fillRect/>
          </a:stretch>
        </p:blipFill>
        <p:spPr>
          <a:xfrm>
            <a:off x="43800" y="1170125"/>
            <a:ext cx="4130424" cy="2813826"/>
          </a:xfrm>
          <a:prstGeom prst="rect">
            <a:avLst/>
          </a:prstGeom>
          <a:noFill/>
          <a:ln>
            <a:noFill/>
          </a:ln>
        </p:spPr>
      </p:pic>
      <p:pic>
        <p:nvPicPr>
          <p:cNvPr id="75" name="Google Shape;75;p16"/>
          <p:cNvPicPr preferRelativeResize="0"/>
          <p:nvPr/>
        </p:nvPicPr>
        <p:blipFill>
          <a:blip r:embed="rId4">
            <a:alphaModFix/>
          </a:blip>
          <a:stretch>
            <a:fillRect/>
          </a:stretch>
        </p:blipFill>
        <p:spPr>
          <a:xfrm>
            <a:off x="4174226" y="1170125"/>
            <a:ext cx="4817374" cy="2813818"/>
          </a:xfrm>
          <a:prstGeom prst="rect">
            <a:avLst/>
          </a:prstGeom>
          <a:noFill/>
          <a:ln>
            <a:noFill/>
          </a:ln>
        </p:spPr>
      </p:pic>
      <p:sp>
        <p:nvSpPr>
          <p:cNvPr id="76" name="Google Shape;76;p16"/>
          <p:cNvSpPr txBox="1"/>
          <p:nvPr/>
        </p:nvSpPr>
        <p:spPr>
          <a:xfrm>
            <a:off x="825450" y="3991000"/>
            <a:ext cx="2320200" cy="572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800">
                <a:solidFill>
                  <a:schemeClr val="dk1"/>
                </a:solidFill>
              </a:rPr>
              <a:t>Start of LOF0</a:t>
            </a:r>
            <a:endParaRPr sz="1800">
              <a:solidFill>
                <a:schemeClr val="dk1"/>
              </a:solidFill>
            </a:endParaRPr>
          </a:p>
          <a:p>
            <a:pPr indent="0" lvl="0" marL="0" rtl="0" algn="l">
              <a:spcBef>
                <a:spcPts val="0"/>
              </a:spcBef>
              <a:spcAft>
                <a:spcPts val="0"/>
              </a:spcAft>
              <a:buNone/>
            </a:pPr>
            <a:r>
              <a:t/>
            </a:r>
            <a:endParaRPr sz="1800">
              <a:solidFill>
                <a:schemeClr val="dk2"/>
              </a:solidFill>
            </a:endParaRPr>
          </a:p>
        </p:txBody>
      </p:sp>
      <p:sp>
        <p:nvSpPr>
          <p:cNvPr id="77" name="Google Shape;77;p16"/>
          <p:cNvSpPr txBox="1"/>
          <p:nvPr/>
        </p:nvSpPr>
        <p:spPr>
          <a:xfrm>
            <a:off x="4272700" y="3991000"/>
            <a:ext cx="3972600" cy="415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800">
                <a:solidFill>
                  <a:schemeClr val="dk1"/>
                </a:solidFill>
              </a:rPr>
              <a:t>End of LOF1</a:t>
            </a:r>
            <a:endParaRPr sz="1800">
              <a:solidFill>
                <a:schemeClr val="dk1"/>
              </a:solidFill>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1" name="Shape 81"/>
        <p:cNvGrpSpPr/>
        <p:nvPr/>
      </p:nvGrpSpPr>
      <p:grpSpPr>
        <a:xfrm>
          <a:off x="0" y="0"/>
          <a:ext cx="0" cy="0"/>
          <a:chOff x="0" y="0"/>
          <a:chExt cx="0" cy="0"/>
        </a:xfrm>
      </p:grpSpPr>
      <p:pic>
        <p:nvPicPr>
          <p:cNvPr id="82" name="Google Shape;82;p17"/>
          <p:cNvPicPr preferRelativeResize="0"/>
          <p:nvPr/>
        </p:nvPicPr>
        <p:blipFill>
          <a:blip r:embed="rId3">
            <a:alphaModFix/>
          </a:blip>
          <a:stretch>
            <a:fillRect/>
          </a:stretch>
        </p:blipFill>
        <p:spPr>
          <a:xfrm>
            <a:off x="176875" y="1254575"/>
            <a:ext cx="4015424" cy="2090825"/>
          </a:xfrm>
          <a:prstGeom prst="rect">
            <a:avLst/>
          </a:prstGeom>
          <a:noFill/>
          <a:ln>
            <a:noFill/>
          </a:ln>
        </p:spPr>
      </p:pic>
      <p:sp>
        <p:nvSpPr>
          <p:cNvPr id="83" name="Google Shape;83;p17"/>
          <p:cNvSpPr txBox="1"/>
          <p:nvPr/>
        </p:nvSpPr>
        <p:spPr>
          <a:xfrm>
            <a:off x="237150" y="174950"/>
            <a:ext cx="3810000" cy="789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800">
                <a:solidFill>
                  <a:schemeClr val="dk1"/>
                </a:solidFill>
              </a:rPr>
              <a:t>Frames between Versions</a:t>
            </a:r>
            <a:endParaRPr sz="1800">
              <a:solidFill>
                <a:schemeClr val="dk1"/>
              </a:solidFill>
            </a:endParaRPr>
          </a:p>
        </p:txBody>
      </p:sp>
      <p:pic>
        <p:nvPicPr>
          <p:cNvPr id="84" name="Google Shape;84;p17"/>
          <p:cNvPicPr preferRelativeResize="0"/>
          <p:nvPr/>
        </p:nvPicPr>
        <p:blipFill>
          <a:blip r:embed="rId4">
            <a:alphaModFix/>
          </a:blip>
          <a:stretch>
            <a:fillRect/>
          </a:stretch>
        </p:blipFill>
        <p:spPr>
          <a:xfrm>
            <a:off x="4317499" y="1254575"/>
            <a:ext cx="4646902" cy="3832873"/>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8" name="Shape 88"/>
        <p:cNvGrpSpPr/>
        <p:nvPr/>
      </p:nvGrpSpPr>
      <p:grpSpPr>
        <a:xfrm>
          <a:off x="0" y="0"/>
          <a:ext cx="0" cy="0"/>
          <a:chOff x="0" y="0"/>
          <a:chExt cx="0" cy="0"/>
        </a:xfrm>
      </p:grpSpPr>
      <p:sp>
        <p:nvSpPr>
          <p:cNvPr id="89" name="Google Shape;89;p18"/>
          <p:cNvSpPr txBox="1"/>
          <p:nvPr>
            <p:ph idx="1" type="body"/>
          </p:nvPr>
        </p:nvSpPr>
        <p:spPr>
          <a:xfrm>
            <a:off x="164625" y="375050"/>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b="1" lang="en" sz="1100">
                <a:solidFill>
                  <a:schemeClr val="dk1"/>
                </a:solidFill>
              </a:rPr>
              <a:t>Hansoft Milestone Transition (LOF0 to LOF1):</a:t>
            </a:r>
            <a:endParaRPr b="1" sz="1100">
              <a:solidFill>
                <a:schemeClr val="dk1"/>
              </a:solidFill>
            </a:endParaRPr>
          </a:p>
          <a:p>
            <a:pPr indent="0" lvl="0" marL="0" rtl="0" algn="l">
              <a:spcBef>
                <a:spcPts val="1200"/>
              </a:spcBef>
              <a:spcAft>
                <a:spcPts val="0"/>
              </a:spcAft>
              <a:buNone/>
            </a:pPr>
            <a:r>
              <a:t/>
            </a:r>
            <a:endParaRPr b="1" sz="1100">
              <a:solidFill>
                <a:schemeClr val="dk1"/>
              </a:solidFill>
            </a:endParaRPr>
          </a:p>
          <a:p>
            <a:pPr indent="0" lvl="0" marL="0" rtl="0" algn="l">
              <a:spcBef>
                <a:spcPts val="1200"/>
              </a:spcBef>
              <a:spcAft>
                <a:spcPts val="0"/>
              </a:spcAft>
              <a:buClr>
                <a:schemeClr val="dk1"/>
              </a:buClr>
              <a:buSzPts val="1100"/>
              <a:buFont typeface="Arial"/>
              <a:buNone/>
            </a:pPr>
            <a:r>
              <a:rPr b="1" lang="en" sz="1100">
                <a:solidFill>
                  <a:schemeClr val="dk1"/>
                </a:solidFill>
              </a:rPr>
              <a:t>What each card was for</a:t>
            </a:r>
            <a:endParaRPr b="1" sz="1100">
              <a:solidFill>
                <a:schemeClr val="dk1"/>
              </a:solidFill>
            </a:endParaRPr>
          </a:p>
          <a:p>
            <a:pPr indent="-298450" lvl="0" marL="457200" rtl="0" algn="l">
              <a:spcBef>
                <a:spcPts val="1200"/>
              </a:spcBef>
              <a:spcAft>
                <a:spcPts val="0"/>
              </a:spcAft>
              <a:buClr>
                <a:schemeClr val="dk1"/>
              </a:buClr>
              <a:buSzPts val="1100"/>
              <a:buChar char="●"/>
            </a:pPr>
            <a:r>
              <a:rPr i="1" lang="en" sz="1100">
                <a:solidFill>
                  <a:schemeClr val="dk1"/>
                </a:solidFill>
              </a:rPr>
              <a:t>LOF0 (Prototype and testing):</a:t>
            </a:r>
            <a:r>
              <a:rPr lang="en" sz="1100">
                <a:solidFill>
                  <a:schemeClr val="dk1"/>
                </a:solidFill>
              </a:rPr>
              <a:t> Speed-focused vertical slice to prove whether MegaLights + Lumen Lite could run on development PCs/Parsec laptops.</a:t>
            </a:r>
            <a:endParaRPr sz="1100">
              <a:solidFill>
                <a:schemeClr val="dk1"/>
              </a:solidFill>
            </a:endParaRPr>
          </a:p>
          <a:p>
            <a:pPr indent="0" lvl="0" marL="0" rtl="0" algn="l">
              <a:spcBef>
                <a:spcPts val="1200"/>
              </a:spcBef>
              <a:spcAft>
                <a:spcPts val="0"/>
              </a:spcAft>
              <a:buNone/>
            </a:pPr>
            <a:r>
              <a:t/>
            </a:r>
            <a:endParaRPr sz="1100">
              <a:solidFill>
                <a:schemeClr val="dk1"/>
              </a:solidFill>
            </a:endParaRPr>
          </a:p>
          <a:p>
            <a:pPr indent="-298450" lvl="0" marL="457200" rtl="0" algn="l">
              <a:spcBef>
                <a:spcPts val="1200"/>
              </a:spcBef>
              <a:spcAft>
                <a:spcPts val="0"/>
              </a:spcAft>
              <a:buClr>
                <a:schemeClr val="dk1"/>
              </a:buClr>
              <a:buSzPts val="1100"/>
              <a:buChar char="●"/>
            </a:pPr>
            <a:r>
              <a:rPr i="1" lang="en" sz="1100">
                <a:solidFill>
                  <a:schemeClr val="dk1"/>
                </a:solidFill>
              </a:rPr>
              <a:t>LOF1 (5.8 version Internal Demo):</a:t>
            </a:r>
            <a:r>
              <a:rPr lang="en" sz="1100">
                <a:solidFill>
                  <a:schemeClr val="dk1"/>
                </a:solidFill>
              </a:rPr>
              <a:t> Rigorous bug-fixing sprint targeting stability, eliminating the 5-minute memory drop, and packaging a duo of standalone builds (With the help of Dan).</a:t>
            </a:r>
            <a:endParaRPr sz="1100">
              <a:solidFill>
                <a:schemeClr val="dk1"/>
              </a:solidFill>
            </a:endParaRPr>
          </a:p>
          <a:p>
            <a:pPr indent="0" lvl="0" marL="0" rtl="0" algn="l">
              <a:spcBef>
                <a:spcPts val="1200"/>
              </a:spcBef>
              <a:spcAft>
                <a:spcPts val="1200"/>
              </a:spcAft>
              <a:buNone/>
            </a:pPr>
            <a:r>
              <a:t/>
            </a:r>
            <a:endParaRPr b="1" sz="1100">
              <a:solidFill>
                <a:schemeClr val="dk1"/>
              </a:solidFill>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3" name="Shape 93"/>
        <p:cNvGrpSpPr/>
        <p:nvPr/>
      </p:nvGrpSpPr>
      <p:grpSpPr>
        <a:xfrm>
          <a:off x="0" y="0"/>
          <a:ext cx="0" cy="0"/>
          <a:chOff x="0" y="0"/>
          <a:chExt cx="0" cy="0"/>
        </a:xfrm>
      </p:grpSpPr>
      <p:sp>
        <p:nvSpPr>
          <p:cNvPr id="94" name="Google Shape;94;p19"/>
          <p:cNvSpPr txBox="1"/>
          <p:nvPr>
            <p:ph type="title"/>
          </p:nvPr>
        </p:nvSpPr>
        <p:spPr>
          <a:xfrm>
            <a:off x="311700" y="445025"/>
            <a:ext cx="27285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Handout Card</a:t>
            </a:r>
            <a:br>
              <a:rPr lang="en"/>
            </a:br>
            <a:r>
              <a:rPr lang="en"/>
              <a:t>LOF0</a:t>
            </a:r>
            <a:endParaRPr/>
          </a:p>
        </p:txBody>
      </p:sp>
      <p:pic>
        <p:nvPicPr>
          <p:cNvPr id="95" name="Google Shape;95;p19"/>
          <p:cNvPicPr preferRelativeResize="0"/>
          <p:nvPr/>
        </p:nvPicPr>
        <p:blipFill rotWithShape="1">
          <a:blip r:embed="rId3">
            <a:alphaModFix/>
          </a:blip>
          <a:srcRect b="9398" l="0" r="0" t="39913"/>
          <a:stretch/>
        </p:blipFill>
        <p:spPr>
          <a:xfrm>
            <a:off x="3744650" y="0"/>
            <a:ext cx="5399350" cy="5143500"/>
          </a:xfrm>
          <a:prstGeom prst="rect">
            <a:avLst/>
          </a:prstGeom>
          <a:noFill/>
          <a:ln>
            <a:noFill/>
          </a:ln>
        </p:spPr>
      </p:pic>
      <p:pic>
        <p:nvPicPr>
          <p:cNvPr id="96" name="Google Shape;96;p19"/>
          <p:cNvPicPr preferRelativeResize="0"/>
          <p:nvPr/>
        </p:nvPicPr>
        <p:blipFill rotWithShape="1">
          <a:blip r:embed="rId3">
            <a:alphaModFix/>
          </a:blip>
          <a:srcRect b="59712" l="0" r="0" t="0"/>
          <a:stretch/>
        </p:blipFill>
        <p:spPr>
          <a:xfrm>
            <a:off x="0" y="1276550"/>
            <a:ext cx="3911074" cy="3866949"/>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0" name="Shape 100"/>
        <p:cNvGrpSpPr/>
        <p:nvPr/>
      </p:nvGrpSpPr>
      <p:grpSpPr>
        <a:xfrm>
          <a:off x="0" y="0"/>
          <a:ext cx="0" cy="0"/>
          <a:chOff x="0" y="0"/>
          <a:chExt cx="0" cy="0"/>
        </a:xfrm>
      </p:grpSpPr>
      <p:pic>
        <p:nvPicPr>
          <p:cNvPr id="101" name="Google Shape;101;p20"/>
          <p:cNvPicPr preferRelativeResize="0"/>
          <p:nvPr/>
        </p:nvPicPr>
        <p:blipFill>
          <a:blip r:embed="rId3">
            <a:alphaModFix/>
          </a:blip>
          <a:stretch>
            <a:fillRect/>
          </a:stretch>
        </p:blipFill>
        <p:spPr>
          <a:xfrm>
            <a:off x="3450348" y="0"/>
            <a:ext cx="5693652" cy="5143500"/>
          </a:xfrm>
          <a:prstGeom prst="rect">
            <a:avLst/>
          </a:prstGeom>
          <a:noFill/>
          <a:ln>
            <a:noFill/>
          </a:ln>
        </p:spPr>
      </p:pic>
      <p:sp>
        <p:nvSpPr>
          <p:cNvPr id="102" name="Google Shape;102;p20"/>
          <p:cNvSpPr txBox="1"/>
          <p:nvPr/>
        </p:nvSpPr>
        <p:spPr>
          <a:xfrm>
            <a:off x="336650" y="410550"/>
            <a:ext cx="2923200" cy="4425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800">
                <a:solidFill>
                  <a:schemeClr val="dk2"/>
                </a:solidFill>
              </a:rPr>
              <a:t>LOF0 Goals from </a:t>
            </a:r>
            <a:r>
              <a:rPr lang="en" sz="1800">
                <a:solidFill>
                  <a:schemeClr val="dk2"/>
                </a:solidFill>
              </a:rPr>
              <a:t>Handoff</a:t>
            </a:r>
            <a:r>
              <a:rPr lang="en" sz="1800">
                <a:solidFill>
                  <a:schemeClr val="dk2"/>
                </a:solidFill>
              </a:rPr>
              <a:t> and how they were done (For this section)</a:t>
            </a:r>
            <a:endParaRPr sz="1800">
              <a:solidFill>
                <a:schemeClr val="dk2"/>
              </a:solidFill>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6" name="Shape 106"/>
        <p:cNvGrpSpPr/>
        <p:nvPr/>
      </p:nvGrpSpPr>
      <p:grpSpPr>
        <a:xfrm>
          <a:off x="0" y="0"/>
          <a:ext cx="0" cy="0"/>
          <a:chOff x="0" y="0"/>
          <a:chExt cx="0" cy="0"/>
        </a:xfrm>
      </p:grpSpPr>
      <p:graphicFrame>
        <p:nvGraphicFramePr>
          <p:cNvPr id="107" name="Google Shape;107;p21"/>
          <p:cNvGraphicFramePr/>
          <p:nvPr/>
        </p:nvGraphicFramePr>
        <p:xfrm>
          <a:off x="157163" y="653150"/>
          <a:ext cx="3000000" cy="3000000"/>
        </p:xfrm>
        <a:graphic>
          <a:graphicData uri="http://schemas.openxmlformats.org/drawingml/2006/table">
            <a:tbl>
              <a:tblPr>
                <a:noFill/>
                <a:tableStyleId>{BB671803-D0E6-41DD-8D27-9BE71D5C2A9A}</a:tableStyleId>
              </a:tblPr>
              <a:tblGrid>
                <a:gridCol w="1952625"/>
                <a:gridCol w="3009900"/>
                <a:gridCol w="1143000"/>
                <a:gridCol w="2724150"/>
              </a:tblGrid>
              <a:tr h="718450">
                <a:tc>
                  <a:txBody>
                    <a:bodyPr/>
                    <a:lstStyle/>
                    <a:p>
                      <a:pPr indent="0" lvl="0" marL="0" rtl="0" algn="l">
                        <a:lnSpc>
                          <a:spcPct val="115000"/>
                        </a:lnSpc>
                        <a:spcBef>
                          <a:spcPts val="0"/>
                        </a:spcBef>
                        <a:spcAft>
                          <a:spcPts val="0"/>
                        </a:spcAft>
                        <a:buNone/>
                      </a:pPr>
                      <a:r>
                        <a:rPr b="1" lang="en" sz="1100">
                          <a:solidFill>
                            <a:srgbClr val="1F1F1F"/>
                          </a:solidFill>
                        </a:rPr>
                        <a:t>Stage / Iteration</a:t>
                      </a:r>
                      <a:endParaRPr b="1" sz="1100">
                        <a:solidFill>
                          <a:srgbClr val="1F1F1F"/>
                        </a:solidFill>
                      </a:endParaRPr>
                    </a:p>
                  </a:txBody>
                  <a:tcPr marT="76200" marB="76200" marR="114300" marL="114300">
                    <a:lnL cap="flat" cmpd="sng" w="5450">
                      <a:solidFill>
                        <a:srgbClr val="C4C7C5"/>
                      </a:solidFill>
                      <a:prstDash val="solid"/>
                      <a:round/>
                      <a:headEnd len="sm" w="sm" type="none"/>
                      <a:tailEnd len="sm" w="sm" type="none"/>
                    </a:lnL>
                    <a:lnR cap="flat" cmpd="sng" w="5450">
                      <a:solidFill>
                        <a:srgbClr val="C4C7C5"/>
                      </a:solidFill>
                      <a:prstDash val="solid"/>
                      <a:round/>
                      <a:headEnd len="sm" w="sm" type="none"/>
                      <a:tailEnd len="sm" w="sm" type="none"/>
                    </a:lnR>
                    <a:lnT cap="flat" cmpd="sng" w="5450">
                      <a:solidFill>
                        <a:srgbClr val="C4C7C5"/>
                      </a:solidFill>
                      <a:prstDash val="solid"/>
                      <a:round/>
                      <a:headEnd len="sm" w="sm" type="none"/>
                      <a:tailEnd len="sm" w="sm" type="none"/>
                    </a:lnT>
                    <a:lnB cap="flat" cmpd="sng" w="5450">
                      <a:solidFill>
                        <a:srgbClr val="C4C7C5"/>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b="1" lang="en" sz="1100">
                          <a:solidFill>
                            <a:srgbClr val="1F1F1F"/>
                          </a:solidFill>
                        </a:rPr>
                        <a:t>Configuration Highlights</a:t>
                      </a:r>
                      <a:endParaRPr b="1" sz="1100">
                        <a:solidFill>
                          <a:srgbClr val="1F1F1F"/>
                        </a:solidFill>
                      </a:endParaRPr>
                    </a:p>
                  </a:txBody>
                  <a:tcPr marT="76200" marB="76200" marR="114300" marL="114300">
                    <a:lnL cap="flat" cmpd="sng" w="5450">
                      <a:solidFill>
                        <a:srgbClr val="C4C7C5"/>
                      </a:solidFill>
                      <a:prstDash val="solid"/>
                      <a:round/>
                      <a:headEnd len="sm" w="sm" type="none"/>
                      <a:tailEnd len="sm" w="sm" type="none"/>
                    </a:lnL>
                    <a:lnR cap="flat" cmpd="sng" w="5450">
                      <a:solidFill>
                        <a:srgbClr val="C4C7C5"/>
                      </a:solidFill>
                      <a:prstDash val="solid"/>
                      <a:round/>
                      <a:headEnd len="sm" w="sm" type="none"/>
                      <a:tailEnd len="sm" w="sm" type="none"/>
                    </a:lnR>
                    <a:lnT cap="flat" cmpd="sng" w="5450">
                      <a:solidFill>
                        <a:srgbClr val="C4C7C5"/>
                      </a:solidFill>
                      <a:prstDash val="solid"/>
                      <a:round/>
                      <a:headEnd len="sm" w="sm" type="none"/>
                      <a:tailEnd len="sm" w="sm" type="none"/>
                    </a:lnT>
                    <a:lnB cap="flat" cmpd="sng" w="5450">
                      <a:solidFill>
                        <a:srgbClr val="C4C7C5"/>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b="1" lang="en" sz="1100">
                          <a:solidFill>
                            <a:srgbClr val="1F1F1F"/>
                          </a:solidFill>
                        </a:rPr>
                        <a:t>Frame Rate (FPS)</a:t>
                      </a:r>
                      <a:endParaRPr b="1" sz="1100">
                        <a:solidFill>
                          <a:srgbClr val="1F1F1F"/>
                        </a:solidFill>
                      </a:endParaRPr>
                    </a:p>
                  </a:txBody>
                  <a:tcPr marT="76200" marB="76200" marR="114300" marL="114300">
                    <a:lnL cap="flat" cmpd="sng" w="5450">
                      <a:solidFill>
                        <a:srgbClr val="C4C7C5"/>
                      </a:solidFill>
                      <a:prstDash val="solid"/>
                      <a:round/>
                      <a:headEnd len="sm" w="sm" type="none"/>
                      <a:tailEnd len="sm" w="sm" type="none"/>
                    </a:lnL>
                    <a:lnR cap="flat" cmpd="sng" w="5450">
                      <a:solidFill>
                        <a:srgbClr val="C4C7C5"/>
                      </a:solidFill>
                      <a:prstDash val="solid"/>
                      <a:round/>
                      <a:headEnd len="sm" w="sm" type="none"/>
                      <a:tailEnd len="sm" w="sm" type="none"/>
                    </a:lnR>
                    <a:lnT cap="flat" cmpd="sng" w="5450">
                      <a:solidFill>
                        <a:srgbClr val="C4C7C5"/>
                      </a:solidFill>
                      <a:prstDash val="solid"/>
                      <a:round/>
                      <a:headEnd len="sm" w="sm" type="none"/>
                      <a:tailEnd len="sm" w="sm" type="none"/>
                    </a:lnT>
                    <a:lnB cap="flat" cmpd="sng" w="5450">
                      <a:solidFill>
                        <a:srgbClr val="C4C7C5"/>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b="1" lang="en" sz="1100">
                          <a:solidFill>
                            <a:srgbClr val="1F1F1F"/>
                          </a:solidFill>
                        </a:rPr>
                        <a:t>Stability / Observations</a:t>
                      </a:r>
                      <a:endParaRPr b="1" sz="1100">
                        <a:solidFill>
                          <a:srgbClr val="1F1F1F"/>
                        </a:solidFill>
                      </a:endParaRPr>
                    </a:p>
                  </a:txBody>
                  <a:tcPr marT="76200" marB="76200" marR="114300" marL="114300">
                    <a:lnL cap="flat" cmpd="sng" w="5450">
                      <a:solidFill>
                        <a:srgbClr val="C4C7C5"/>
                      </a:solidFill>
                      <a:prstDash val="solid"/>
                      <a:round/>
                      <a:headEnd len="sm" w="sm" type="none"/>
                      <a:tailEnd len="sm" w="sm" type="none"/>
                    </a:lnL>
                    <a:lnR cap="flat" cmpd="sng" w="5450">
                      <a:solidFill>
                        <a:srgbClr val="C4C7C5"/>
                      </a:solidFill>
                      <a:prstDash val="solid"/>
                      <a:round/>
                      <a:headEnd len="sm" w="sm" type="none"/>
                      <a:tailEnd len="sm" w="sm" type="none"/>
                    </a:lnR>
                    <a:lnT cap="flat" cmpd="sng" w="5450">
                      <a:solidFill>
                        <a:srgbClr val="C4C7C5"/>
                      </a:solidFill>
                      <a:prstDash val="solid"/>
                      <a:round/>
                      <a:headEnd len="sm" w="sm" type="none"/>
                      <a:tailEnd len="sm" w="sm" type="none"/>
                    </a:lnT>
                    <a:lnB cap="flat" cmpd="sng" w="5450">
                      <a:solidFill>
                        <a:srgbClr val="C4C7C5"/>
                      </a:solidFill>
                      <a:prstDash val="solid"/>
                      <a:round/>
                      <a:headEnd len="sm" w="sm" type="none"/>
                      <a:tailEnd len="sm" w="sm" type="none"/>
                    </a:lnB>
                  </a:tcPr>
                </a:tc>
              </a:tr>
              <a:tr h="461875">
                <a:tc>
                  <a:txBody>
                    <a:bodyPr/>
                    <a:lstStyle/>
                    <a:p>
                      <a:pPr indent="0" lvl="0" marL="0" rtl="0" algn="l">
                        <a:lnSpc>
                          <a:spcPct val="115000"/>
                        </a:lnSpc>
                        <a:spcBef>
                          <a:spcPts val="0"/>
                        </a:spcBef>
                        <a:spcAft>
                          <a:spcPts val="0"/>
                        </a:spcAft>
                        <a:buNone/>
                      </a:pPr>
                      <a:r>
                        <a:rPr b="1" lang="en" sz="1100">
                          <a:solidFill>
                            <a:srgbClr val="1F1F1F"/>
                          </a:solidFill>
                        </a:rPr>
                        <a:t>Baseline (Unoptimized)</a:t>
                      </a:r>
                      <a:endParaRPr b="1" sz="1100">
                        <a:solidFill>
                          <a:srgbClr val="1F1F1F"/>
                        </a:solidFill>
                      </a:endParaRPr>
                    </a:p>
                  </a:txBody>
                  <a:tcPr marT="76200" marB="76200" marR="114300" marL="114300">
                    <a:lnL cap="flat" cmpd="sng" w="5450">
                      <a:solidFill>
                        <a:srgbClr val="C4C7C5"/>
                      </a:solidFill>
                      <a:prstDash val="solid"/>
                      <a:round/>
                      <a:headEnd len="sm" w="sm" type="none"/>
                      <a:tailEnd len="sm" w="sm" type="none"/>
                    </a:lnL>
                    <a:lnR cap="flat" cmpd="sng" w="5450">
                      <a:solidFill>
                        <a:srgbClr val="C4C7C5"/>
                      </a:solidFill>
                      <a:prstDash val="solid"/>
                      <a:round/>
                      <a:headEnd len="sm" w="sm" type="none"/>
                      <a:tailEnd len="sm" w="sm" type="none"/>
                    </a:lnR>
                    <a:lnT cap="flat" cmpd="sng" w="5450">
                      <a:solidFill>
                        <a:srgbClr val="C4C7C5"/>
                      </a:solidFill>
                      <a:prstDash val="solid"/>
                      <a:round/>
                      <a:headEnd len="sm" w="sm" type="none"/>
                      <a:tailEnd len="sm" w="sm" type="none"/>
                    </a:lnT>
                    <a:lnB cap="flat" cmpd="sng" w="5450">
                      <a:solidFill>
                        <a:srgbClr val="C4C7C5"/>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 sz="1100">
                          <a:solidFill>
                            <a:srgbClr val="1F1F1F"/>
                          </a:solidFill>
                        </a:rPr>
                        <a:t>Stock settings, Lumen disabled</a:t>
                      </a:r>
                      <a:endParaRPr sz="1100">
                        <a:solidFill>
                          <a:srgbClr val="1F1F1F"/>
                        </a:solidFill>
                      </a:endParaRPr>
                    </a:p>
                  </a:txBody>
                  <a:tcPr marT="76200" marB="76200" marR="114300" marL="114300">
                    <a:lnL cap="flat" cmpd="sng" w="5450">
                      <a:solidFill>
                        <a:srgbClr val="C4C7C5"/>
                      </a:solidFill>
                      <a:prstDash val="solid"/>
                      <a:round/>
                      <a:headEnd len="sm" w="sm" type="none"/>
                      <a:tailEnd len="sm" w="sm" type="none"/>
                    </a:lnL>
                    <a:lnR cap="flat" cmpd="sng" w="5450">
                      <a:solidFill>
                        <a:srgbClr val="C4C7C5"/>
                      </a:solidFill>
                      <a:prstDash val="solid"/>
                      <a:round/>
                      <a:headEnd len="sm" w="sm" type="none"/>
                      <a:tailEnd len="sm" w="sm" type="none"/>
                    </a:lnR>
                    <a:lnT cap="flat" cmpd="sng" w="5450">
                      <a:solidFill>
                        <a:srgbClr val="C4C7C5"/>
                      </a:solidFill>
                      <a:prstDash val="solid"/>
                      <a:round/>
                      <a:headEnd len="sm" w="sm" type="none"/>
                      <a:tailEnd len="sm" w="sm" type="none"/>
                    </a:lnT>
                    <a:lnB cap="flat" cmpd="sng" w="5450">
                      <a:solidFill>
                        <a:srgbClr val="C4C7C5"/>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 sz="1100">
                          <a:solidFill>
                            <a:srgbClr val="1F1F1F"/>
                          </a:solidFill>
                        </a:rPr>
                        <a:t>35 – 45 FPS</a:t>
                      </a:r>
                      <a:endParaRPr sz="1100">
                        <a:solidFill>
                          <a:srgbClr val="1F1F1F"/>
                        </a:solidFill>
                      </a:endParaRPr>
                    </a:p>
                  </a:txBody>
                  <a:tcPr marT="76200" marB="76200" marR="114300" marL="114300">
                    <a:lnL cap="flat" cmpd="sng" w="5450">
                      <a:solidFill>
                        <a:srgbClr val="C4C7C5"/>
                      </a:solidFill>
                      <a:prstDash val="solid"/>
                      <a:round/>
                      <a:headEnd len="sm" w="sm" type="none"/>
                      <a:tailEnd len="sm" w="sm" type="none"/>
                    </a:lnL>
                    <a:lnR cap="flat" cmpd="sng" w="5450">
                      <a:solidFill>
                        <a:srgbClr val="C4C7C5"/>
                      </a:solidFill>
                      <a:prstDash val="solid"/>
                      <a:round/>
                      <a:headEnd len="sm" w="sm" type="none"/>
                      <a:tailEnd len="sm" w="sm" type="none"/>
                    </a:lnR>
                    <a:lnT cap="flat" cmpd="sng" w="5450">
                      <a:solidFill>
                        <a:srgbClr val="C4C7C5"/>
                      </a:solidFill>
                      <a:prstDash val="solid"/>
                      <a:round/>
                      <a:headEnd len="sm" w="sm" type="none"/>
                      <a:tailEnd len="sm" w="sm" type="none"/>
                    </a:lnT>
                    <a:lnB cap="flat" cmpd="sng" w="5450">
                      <a:solidFill>
                        <a:srgbClr val="C4C7C5"/>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 sz="1100">
                          <a:solidFill>
                            <a:srgbClr val="1F1F1F"/>
                          </a:solidFill>
                        </a:rPr>
                        <a:t>Baseline editor performance</a:t>
                      </a:r>
                      <a:endParaRPr sz="1100">
                        <a:solidFill>
                          <a:srgbClr val="1F1F1F"/>
                        </a:solidFill>
                      </a:endParaRPr>
                    </a:p>
                  </a:txBody>
                  <a:tcPr marT="76200" marB="76200" marR="114300" marL="114300">
                    <a:lnL cap="flat" cmpd="sng" w="5450">
                      <a:solidFill>
                        <a:srgbClr val="C4C7C5"/>
                      </a:solidFill>
                      <a:prstDash val="solid"/>
                      <a:round/>
                      <a:headEnd len="sm" w="sm" type="none"/>
                      <a:tailEnd len="sm" w="sm" type="none"/>
                    </a:lnL>
                    <a:lnR cap="flat" cmpd="sng" w="5450">
                      <a:solidFill>
                        <a:srgbClr val="C4C7C5"/>
                      </a:solidFill>
                      <a:prstDash val="solid"/>
                      <a:round/>
                      <a:headEnd len="sm" w="sm" type="none"/>
                      <a:tailEnd len="sm" w="sm" type="none"/>
                    </a:lnR>
                    <a:lnT cap="flat" cmpd="sng" w="5450">
                      <a:solidFill>
                        <a:srgbClr val="C4C7C5"/>
                      </a:solidFill>
                      <a:prstDash val="solid"/>
                      <a:round/>
                      <a:headEnd len="sm" w="sm" type="none"/>
                      <a:tailEnd len="sm" w="sm" type="none"/>
                    </a:lnT>
                    <a:lnB cap="flat" cmpd="sng" w="5450">
                      <a:solidFill>
                        <a:srgbClr val="C4C7C5"/>
                      </a:solidFill>
                      <a:prstDash val="solid"/>
                      <a:round/>
                      <a:headEnd len="sm" w="sm" type="none"/>
                      <a:tailEnd len="sm" w="sm" type="none"/>
                    </a:lnB>
                  </a:tcPr>
                </a:tc>
              </a:tr>
              <a:tr h="461875">
                <a:tc>
                  <a:txBody>
                    <a:bodyPr/>
                    <a:lstStyle/>
                    <a:p>
                      <a:pPr indent="0" lvl="0" marL="0" rtl="0" algn="l">
                        <a:lnSpc>
                          <a:spcPct val="115000"/>
                        </a:lnSpc>
                        <a:spcBef>
                          <a:spcPts val="0"/>
                        </a:spcBef>
                        <a:spcAft>
                          <a:spcPts val="0"/>
                        </a:spcAft>
                        <a:buNone/>
                      </a:pPr>
                      <a:r>
                        <a:rPr b="1" lang="en" sz="1100">
                          <a:solidFill>
                            <a:srgbClr val="1F1F1F"/>
                          </a:solidFill>
                        </a:rPr>
                        <a:t>Stock Lumen (Default)</a:t>
                      </a:r>
                      <a:endParaRPr b="1" sz="1100">
                        <a:solidFill>
                          <a:srgbClr val="1F1F1F"/>
                        </a:solidFill>
                      </a:endParaRPr>
                    </a:p>
                  </a:txBody>
                  <a:tcPr marT="76200" marB="76200" marR="114300" marL="114300">
                    <a:lnL cap="flat" cmpd="sng" w="5450">
                      <a:solidFill>
                        <a:srgbClr val="C4C7C5"/>
                      </a:solidFill>
                      <a:prstDash val="solid"/>
                      <a:round/>
                      <a:headEnd len="sm" w="sm" type="none"/>
                      <a:tailEnd len="sm" w="sm" type="none"/>
                    </a:lnL>
                    <a:lnR cap="flat" cmpd="sng" w="5450">
                      <a:solidFill>
                        <a:srgbClr val="C4C7C5"/>
                      </a:solidFill>
                      <a:prstDash val="solid"/>
                      <a:round/>
                      <a:headEnd len="sm" w="sm" type="none"/>
                      <a:tailEnd len="sm" w="sm" type="none"/>
                    </a:lnR>
                    <a:lnT cap="flat" cmpd="sng" w="5450">
                      <a:solidFill>
                        <a:srgbClr val="C4C7C5"/>
                      </a:solidFill>
                      <a:prstDash val="solid"/>
                      <a:round/>
                      <a:headEnd len="sm" w="sm" type="none"/>
                      <a:tailEnd len="sm" w="sm" type="none"/>
                    </a:lnT>
                    <a:lnB cap="flat" cmpd="sng" w="5450">
                      <a:solidFill>
                        <a:srgbClr val="C4C7C5"/>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 sz="1100">
                          <a:solidFill>
                            <a:srgbClr val="1F1F1F"/>
                          </a:solidFill>
                        </a:rPr>
                        <a:t>Full Lumen &amp; default VSM</a:t>
                      </a:r>
                      <a:endParaRPr sz="1100">
                        <a:solidFill>
                          <a:srgbClr val="1F1F1F"/>
                        </a:solidFill>
                      </a:endParaRPr>
                    </a:p>
                  </a:txBody>
                  <a:tcPr marT="76200" marB="76200" marR="114300" marL="114300">
                    <a:lnL cap="flat" cmpd="sng" w="5450">
                      <a:solidFill>
                        <a:srgbClr val="C4C7C5"/>
                      </a:solidFill>
                      <a:prstDash val="solid"/>
                      <a:round/>
                      <a:headEnd len="sm" w="sm" type="none"/>
                      <a:tailEnd len="sm" w="sm" type="none"/>
                    </a:lnL>
                    <a:lnR cap="flat" cmpd="sng" w="5450">
                      <a:solidFill>
                        <a:srgbClr val="C4C7C5"/>
                      </a:solidFill>
                      <a:prstDash val="solid"/>
                      <a:round/>
                      <a:headEnd len="sm" w="sm" type="none"/>
                      <a:tailEnd len="sm" w="sm" type="none"/>
                    </a:lnR>
                    <a:lnT cap="flat" cmpd="sng" w="5450">
                      <a:solidFill>
                        <a:srgbClr val="C4C7C5"/>
                      </a:solidFill>
                      <a:prstDash val="solid"/>
                      <a:round/>
                      <a:headEnd len="sm" w="sm" type="none"/>
                      <a:tailEnd len="sm" w="sm" type="none"/>
                    </a:lnT>
                    <a:lnB cap="flat" cmpd="sng" w="5450">
                      <a:solidFill>
                        <a:srgbClr val="C4C7C5"/>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 sz="1100">
                          <a:solidFill>
                            <a:srgbClr val="1F1F1F"/>
                          </a:solidFill>
                        </a:rPr>
                        <a:t>≤ 30 FPS</a:t>
                      </a:r>
                      <a:endParaRPr sz="1100">
                        <a:solidFill>
                          <a:srgbClr val="1F1F1F"/>
                        </a:solidFill>
                      </a:endParaRPr>
                    </a:p>
                  </a:txBody>
                  <a:tcPr marT="76200" marB="76200" marR="114300" marL="114300">
                    <a:lnL cap="flat" cmpd="sng" w="5450">
                      <a:solidFill>
                        <a:srgbClr val="C4C7C5"/>
                      </a:solidFill>
                      <a:prstDash val="solid"/>
                      <a:round/>
                      <a:headEnd len="sm" w="sm" type="none"/>
                      <a:tailEnd len="sm" w="sm" type="none"/>
                    </a:lnL>
                    <a:lnR cap="flat" cmpd="sng" w="5450">
                      <a:solidFill>
                        <a:srgbClr val="C4C7C5"/>
                      </a:solidFill>
                      <a:prstDash val="solid"/>
                      <a:round/>
                      <a:headEnd len="sm" w="sm" type="none"/>
                      <a:tailEnd len="sm" w="sm" type="none"/>
                    </a:lnR>
                    <a:lnT cap="flat" cmpd="sng" w="5450">
                      <a:solidFill>
                        <a:srgbClr val="C4C7C5"/>
                      </a:solidFill>
                      <a:prstDash val="solid"/>
                      <a:round/>
                      <a:headEnd len="sm" w="sm" type="none"/>
                      <a:tailEnd len="sm" w="sm" type="none"/>
                    </a:lnT>
                    <a:lnB cap="flat" cmpd="sng" w="5450">
                      <a:solidFill>
                        <a:srgbClr val="C4C7C5"/>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 sz="1100">
                          <a:solidFill>
                            <a:srgbClr val="1F1F1F"/>
                          </a:solidFill>
                        </a:rPr>
                        <a:t>Severe GPU cost; unplayable</a:t>
                      </a:r>
                      <a:endParaRPr sz="1100">
                        <a:solidFill>
                          <a:srgbClr val="1F1F1F"/>
                        </a:solidFill>
                      </a:endParaRPr>
                    </a:p>
                  </a:txBody>
                  <a:tcPr marT="76200" marB="76200" marR="114300" marL="114300">
                    <a:lnL cap="flat" cmpd="sng" w="5450">
                      <a:solidFill>
                        <a:srgbClr val="C4C7C5"/>
                      </a:solidFill>
                      <a:prstDash val="solid"/>
                      <a:round/>
                      <a:headEnd len="sm" w="sm" type="none"/>
                      <a:tailEnd len="sm" w="sm" type="none"/>
                    </a:lnL>
                    <a:lnR cap="flat" cmpd="sng" w="5450">
                      <a:solidFill>
                        <a:srgbClr val="C4C7C5"/>
                      </a:solidFill>
                      <a:prstDash val="solid"/>
                      <a:round/>
                      <a:headEnd len="sm" w="sm" type="none"/>
                      <a:tailEnd len="sm" w="sm" type="none"/>
                    </a:lnR>
                    <a:lnT cap="flat" cmpd="sng" w="5450">
                      <a:solidFill>
                        <a:srgbClr val="C4C7C5"/>
                      </a:solidFill>
                      <a:prstDash val="solid"/>
                      <a:round/>
                      <a:headEnd len="sm" w="sm" type="none"/>
                      <a:tailEnd len="sm" w="sm" type="none"/>
                    </a:lnT>
                    <a:lnB cap="flat" cmpd="sng" w="5450">
                      <a:solidFill>
                        <a:srgbClr val="C4C7C5"/>
                      </a:solidFill>
                      <a:prstDash val="solid"/>
                      <a:round/>
                      <a:headEnd len="sm" w="sm" type="none"/>
                      <a:tailEnd len="sm" w="sm" type="none"/>
                    </a:lnB>
                  </a:tcPr>
                </a:tc>
              </a:tr>
              <a:tr h="718450">
                <a:tc>
                  <a:txBody>
                    <a:bodyPr/>
                    <a:lstStyle/>
                    <a:p>
                      <a:pPr indent="0" lvl="0" marL="0" rtl="0" algn="l">
                        <a:lnSpc>
                          <a:spcPct val="115000"/>
                        </a:lnSpc>
                        <a:spcBef>
                          <a:spcPts val="0"/>
                        </a:spcBef>
                        <a:spcAft>
                          <a:spcPts val="0"/>
                        </a:spcAft>
                        <a:buNone/>
                      </a:pPr>
                      <a:r>
                        <a:rPr b="1" lang="en" sz="1100">
                          <a:solidFill>
                            <a:srgbClr val="1F1F1F"/>
                          </a:solidFill>
                        </a:rPr>
                        <a:t>Initial RT Adjustments</a:t>
                      </a:r>
                      <a:endParaRPr b="1" sz="1100">
                        <a:solidFill>
                          <a:srgbClr val="1F1F1F"/>
                        </a:solidFill>
                      </a:endParaRPr>
                    </a:p>
                  </a:txBody>
                  <a:tcPr marT="76200" marB="76200" marR="114300" marL="114300">
                    <a:lnL cap="flat" cmpd="sng" w="5450">
                      <a:solidFill>
                        <a:srgbClr val="C4C7C5"/>
                      </a:solidFill>
                      <a:prstDash val="solid"/>
                      <a:round/>
                      <a:headEnd len="sm" w="sm" type="none"/>
                      <a:tailEnd len="sm" w="sm" type="none"/>
                    </a:lnL>
                    <a:lnR cap="flat" cmpd="sng" w="5450">
                      <a:solidFill>
                        <a:srgbClr val="C4C7C5"/>
                      </a:solidFill>
                      <a:prstDash val="solid"/>
                      <a:round/>
                      <a:headEnd len="sm" w="sm" type="none"/>
                      <a:tailEnd len="sm" w="sm" type="none"/>
                    </a:lnR>
                    <a:lnT cap="flat" cmpd="sng" w="5450">
                      <a:solidFill>
                        <a:srgbClr val="C4C7C5"/>
                      </a:solidFill>
                      <a:prstDash val="solid"/>
                      <a:round/>
                      <a:headEnd len="sm" w="sm" type="none"/>
                      <a:tailEnd len="sm" w="sm" type="none"/>
                    </a:lnT>
                    <a:lnB cap="flat" cmpd="sng" w="5450">
                      <a:solidFill>
                        <a:srgbClr val="C4C7C5"/>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 sz="1100">
                          <a:solidFill>
                            <a:srgbClr val="1F1F1F"/>
                          </a:solidFill>
                        </a:rPr>
                        <a:t>Translucent reflections disabled, Shadow Maps instead of VSM</a:t>
                      </a:r>
                      <a:endParaRPr sz="1100">
                        <a:solidFill>
                          <a:srgbClr val="1F1F1F"/>
                        </a:solidFill>
                      </a:endParaRPr>
                    </a:p>
                  </a:txBody>
                  <a:tcPr marT="76200" marB="76200" marR="114300" marL="114300">
                    <a:lnL cap="flat" cmpd="sng" w="5450">
                      <a:solidFill>
                        <a:srgbClr val="C4C7C5"/>
                      </a:solidFill>
                      <a:prstDash val="solid"/>
                      <a:round/>
                      <a:headEnd len="sm" w="sm" type="none"/>
                      <a:tailEnd len="sm" w="sm" type="none"/>
                    </a:lnL>
                    <a:lnR cap="flat" cmpd="sng" w="5450">
                      <a:solidFill>
                        <a:srgbClr val="C4C7C5"/>
                      </a:solidFill>
                      <a:prstDash val="solid"/>
                      <a:round/>
                      <a:headEnd len="sm" w="sm" type="none"/>
                      <a:tailEnd len="sm" w="sm" type="none"/>
                    </a:lnR>
                    <a:lnT cap="flat" cmpd="sng" w="5450">
                      <a:solidFill>
                        <a:srgbClr val="C4C7C5"/>
                      </a:solidFill>
                      <a:prstDash val="solid"/>
                      <a:round/>
                      <a:headEnd len="sm" w="sm" type="none"/>
                      <a:tailEnd len="sm" w="sm" type="none"/>
                    </a:lnT>
                    <a:lnB cap="flat" cmpd="sng" w="5450">
                      <a:solidFill>
                        <a:srgbClr val="C4C7C5"/>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 sz="1100">
                          <a:solidFill>
                            <a:srgbClr val="1F1F1F"/>
                          </a:solidFill>
                        </a:rPr>
                        <a:t>27 – 35 FPS</a:t>
                      </a:r>
                      <a:endParaRPr sz="1100">
                        <a:solidFill>
                          <a:srgbClr val="1F1F1F"/>
                        </a:solidFill>
                      </a:endParaRPr>
                    </a:p>
                  </a:txBody>
                  <a:tcPr marT="76200" marB="76200" marR="114300" marL="114300">
                    <a:lnL cap="flat" cmpd="sng" w="5450">
                      <a:solidFill>
                        <a:srgbClr val="C4C7C5"/>
                      </a:solidFill>
                      <a:prstDash val="solid"/>
                      <a:round/>
                      <a:headEnd len="sm" w="sm" type="none"/>
                      <a:tailEnd len="sm" w="sm" type="none"/>
                    </a:lnL>
                    <a:lnR cap="flat" cmpd="sng" w="5450">
                      <a:solidFill>
                        <a:srgbClr val="C4C7C5"/>
                      </a:solidFill>
                      <a:prstDash val="solid"/>
                      <a:round/>
                      <a:headEnd len="sm" w="sm" type="none"/>
                      <a:tailEnd len="sm" w="sm" type="none"/>
                    </a:lnR>
                    <a:lnT cap="flat" cmpd="sng" w="5450">
                      <a:solidFill>
                        <a:srgbClr val="C4C7C5"/>
                      </a:solidFill>
                      <a:prstDash val="solid"/>
                      <a:round/>
                      <a:headEnd len="sm" w="sm" type="none"/>
                      <a:tailEnd len="sm" w="sm" type="none"/>
                    </a:lnT>
                    <a:lnB cap="flat" cmpd="sng" w="5450">
                      <a:solidFill>
                        <a:srgbClr val="C4C7C5"/>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 sz="1100">
                          <a:solidFill>
                            <a:srgbClr val="1F1F1F"/>
                          </a:solidFill>
                        </a:rPr>
                        <a:t>Initial recovery step</a:t>
                      </a:r>
                      <a:endParaRPr sz="1100">
                        <a:solidFill>
                          <a:srgbClr val="1F1F1F"/>
                        </a:solidFill>
                      </a:endParaRPr>
                    </a:p>
                  </a:txBody>
                  <a:tcPr marT="76200" marB="76200" marR="114300" marL="114300">
                    <a:lnL cap="flat" cmpd="sng" w="5450">
                      <a:solidFill>
                        <a:srgbClr val="C4C7C5"/>
                      </a:solidFill>
                      <a:prstDash val="solid"/>
                      <a:round/>
                      <a:headEnd len="sm" w="sm" type="none"/>
                      <a:tailEnd len="sm" w="sm" type="none"/>
                    </a:lnL>
                    <a:lnR cap="flat" cmpd="sng" w="5450">
                      <a:solidFill>
                        <a:srgbClr val="C4C7C5"/>
                      </a:solidFill>
                      <a:prstDash val="solid"/>
                      <a:round/>
                      <a:headEnd len="sm" w="sm" type="none"/>
                      <a:tailEnd len="sm" w="sm" type="none"/>
                    </a:lnR>
                    <a:lnT cap="flat" cmpd="sng" w="5450">
                      <a:solidFill>
                        <a:srgbClr val="C4C7C5"/>
                      </a:solidFill>
                      <a:prstDash val="solid"/>
                      <a:round/>
                      <a:headEnd len="sm" w="sm" type="none"/>
                      <a:tailEnd len="sm" w="sm" type="none"/>
                    </a:lnT>
                    <a:lnB cap="flat" cmpd="sng" w="5450">
                      <a:solidFill>
                        <a:srgbClr val="C4C7C5"/>
                      </a:solidFill>
                      <a:prstDash val="solid"/>
                      <a:round/>
                      <a:headEnd len="sm" w="sm" type="none"/>
                      <a:tailEnd len="sm" w="sm" type="none"/>
                    </a:lnB>
                  </a:tcPr>
                </a:tc>
              </a:tr>
              <a:tr h="692800">
                <a:tc>
                  <a:txBody>
                    <a:bodyPr/>
                    <a:lstStyle/>
                    <a:p>
                      <a:pPr indent="0" lvl="0" marL="0" rtl="0" algn="l">
                        <a:lnSpc>
                          <a:spcPct val="115000"/>
                        </a:lnSpc>
                        <a:spcBef>
                          <a:spcPts val="0"/>
                        </a:spcBef>
                        <a:spcAft>
                          <a:spcPts val="0"/>
                        </a:spcAft>
                        <a:buNone/>
                      </a:pPr>
                      <a:r>
                        <a:rPr b="1" lang="en" sz="1100">
                          <a:solidFill>
                            <a:srgbClr val="1F1F1F"/>
                          </a:solidFill>
                        </a:rPr>
                        <a:t>Lumen Lite Pass 1</a:t>
                      </a:r>
                      <a:endParaRPr b="1" sz="1100">
                        <a:solidFill>
                          <a:srgbClr val="1F1F1F"/>
                        </a:solidFill>
                      </a:endParaRPr>
                    </a:p>
                  </a:txBody>
                  <a:tcPr marT="76200" marB="76200" marR="114300" marL="114300">
                    <a:lnL cap="flat" cmpd="sng" w="5450">
                      <a:solidFill>
                        <a:srgbClr val="C4C7C5"/>
                      </a:solidFill>
                      <a:prstDash val="solid"/>
                      <a:round/>
                      <a:headEnd len="sm" w="sm" type="none"/>
                      <a:tailEnd len="sm" w="sm" type="none"/>
                    </a:lnL>
                    <a:lnR cap="flat" cmpd="sng" w="5450">
                      <a:solidFill>
                        <a:srgbClr val="C4C7C5"/>
                      </a:solidFill>
                      <a:prstDash val="solid"/>
                      <a:round/>
                      <a:headEnd len="sm" w="sm" type="none"/>
                      <a:tailEnd len="sm" w="sm" type="none"/>
                    </a:lnR>
                    <a:lnT cap="flat" cmpd="sng" w="5450">
                      <a:solidFill>
                        <a:srgbClr val="C4C7C5"/>
                      </a:solidFill>
                      <a:prstDash val="solid"/>
                      <a:round/>
                      <a:headEnd len="sm" w="sm" type="none"/>
                      <a:tailEnd len="sm" w="sm" type="none"/>
                    </a:lnT>
                    <a:lnB cap="flat" cmpd="sng" w="5450">
                      <a:solidFill>
                        <a:srgbClr val="C4C7C5"/>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 sz="1100">
                          <a:solidFill>
                            <a:srgbClr val="1F1F1F"/>
                          </a:solidFill>
                        </a:rPr>
                        <a:t>Final Gather: 1.0, Reflections Threshold: 1.0</a:t>
                      </a:r>
                      <a:endParaRPr sz="1100">
                        <a:solidFill>
                          <a:srgbClr val="1F1F1F"/>
                        </a:solidFill>
                      </a:endParaRPr>
                    </a:p>
                  </a:txBody>
                  <a:tcPr marT="76200" marB="76200" marR="114300" marL="114300">
                    <a:lnL cap="flat" cmpd="sng" w="5450">
                      <a:solidFill>
                        <a:srgbClr val="C4C7C5"/>
                      </a:solidFill>
                      <a:prstDash val="solid"/>
                      <a:round/>
                      <a:headEnd len="sm" w="sm" type="none"/>
                      <a:tailEnd len="sm" w="sm" type="none"/>
                    </a:lnL>
                    <a:lnR cap="flat" cmpd="sng" w="5450">
                      <a:solidFill>
                        <a:srgbClr val="C4C7C5"/>
                      </a:solidFill>
                      <a:prstDash val="solid"/>
                      <a:round/>
                      <a:headEnd len="sm" w="sm" type="none"/>
                      <a:tailEnd len="sm" w="sm" type="none"/>
                    </a:lnR>
                    <a:lnT cap="flat" cmpd="sng" w="5450">
                      <a:solidFill>
                        <a:srgbClr val="C4C7C5"/>
                      </a:solidFill>
                      <a:prstDash val="solid"/>
                      <a:round/>
                      <a:headEnd len="sm" w="sm" type="none"/>
                      <a:tailEnd len="sm" w="sm" type="none"/>
                    </a:lnT>
                    <a:lnB cap="flat" cmpd="sng" w="5450">
                      <a:solidFill>
                        <a:srgbClr val="C4C7C5"/>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 sz="1100">
                          <a:solidFill>
                            <a:srgbClr val="1F1F1F"/>
                          </a:solidFill>
                        </a:rPr>
                        <a:t>35 – 45 FPS</a:t>
                      </a:r>
                      <a:endParaRPr sz="1100">
                        <a:solidFill>
                          <a:srgbClr val="1F1F1F"/>
                        </a:solidFill>
                      </a:endParaRPr>
                    </a:p>
                  </a:txBody>
                  <a:tcPr marT="76200" marB="76200" marR="114300" marL="114300">
                    <a:lnL cap="flat" cmpd="sng" w="5450">
                      <a:solidFill>
                        <a:srgbClr val="C4C7C5"/>
                      </a:solidFill>
                      <a:prstDash val="solid"/>
                      <a:round/>
                      <a:headEnd len="sm" w="sm" type="none"/>
                      <a:tailEnd len="sm" w="sm" type="none"/>
                    </a:lnL>
                    <a:lnR cap="flat" cmpd="sng" w="5450">
                      <a:solidFill>
                        <a:srgbClr val="C4C7C5"/>
                      </a:solidFill>
                      <a:prstDash val="solid"/>
                      <a:round/>
                      <a:headEnd len="sm" w="sm" type="none"/>
                      <a:tailEnd len="sm" w="sm" type="none"/>
                    </a:lnR>
                    <a:lnT cap="flat" cmpd="sng" w="5450">
                      <a:solidFill>
                        <a:srgbClr val="C4C7C5"/>
                      </a:solidFill>
                      <a:prstDash val="solid"/>
                      <a:round/>
                      <a:headEnd len="sm" w="sm" type="none"/>
                      <a:tailEnd len="sm" w="sm" type="none"/>
                    </a:lnT>
                    <a:lnB cap="flat" cmpd="sng" w="5450">
                      <a:solidFill>
                        <a:srgbClr val="C4C7C5"/>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 sz="1100">
                          <a:solidFill>
                            <a:srgbClr val="1F1F1F"/>
                          </a:solidFill>
                        </a:rPr>
                        <a:t>Peaks into the low 50s</a:t>
                      </a:r>
                      <a:endParaRPr sz="1100">
                        <a:solidFill>
                          <a:srgbClr val="1F1F1F"/>
                        </a:solidFill>
                      </a:endParaRPr>
                    </a:p>
                  </a:txBody>
                  <a:tcPr marT="76200" marB="76200" marR="114300" marL="114300">
                    <a:lnL cap="flat" cmpd="sng" w="5450">
                      <a:solidFill>
                        <a:srgbClr val="C4C7C5"/>
                      </a:solidFill>
                      <a:prstDash val="solid"/>
                      <a:round/>
                      <a:headEnd len="sm" w="sm" type="none"/>
                      <a:tailEnd len="sm" w="sm" type="none"/>
                    </a:lnL>
                    <a:lnR cap="flat" cmpd="sng" w="5450">
                      <a:solidFill>
                        <a:srgbClr val="C4C7C5"/>
                      </a:solidFill>
                      <a:prstDash val="solid"/>
                      <a:round/>
                      <a:headEnd len="sm" w="sm" type="none"/>
                      <a:tailEnd len="sm" w="sm" type="none"/>
                    </a:lnR>
                    <a:lnT cap="flat" cmpd="sng" w="5450">
                      <a:solidFill>
                        <a:srgbClr val="C4C7C5"/>
                      </a:solidFill>
                      <a:prstDash val="solid"/>
                      <a:round/>
                      <a:headEnd len="sm" w="sm" type="none"/>
                      <a:tailEnd len="sm" w="sm" type="none"/>
                    </a:lnT>
                    <a:lnB cap="flat" cmpd="sng" w="5450">
                      <a:solidFill>
                        <a:srgbClr val="C4C7C5"/>
                      </a:solidFill>
                      <a:prstDash val="solid"/>
                      <a:round/>
                      <a:headEnd len="sm" w="sm" type="none"/>
                      <a:tailEnd len="sm" w="sm" type="none"/>
                    </a:lnB>
                  </a:tcPr>
                </a:tc>
              </a:tr>
              <a:tr h="718450">
                <a:tc>
                  <a:txBody>
                    <a:bodyPr/>
                    <a:lstStyle/>
                    <a:p>
                      <a:pPr indent="0" lvl="0" marL="0" rtl="0" algn="l">
                        <a:lnSpc>
                          <a:spcPct val="115000"/>
                        </a:lnSpc>
                        <a:spcBef>
                          <a:spcPts val="0"/>
                        </a:spcBef>
                        <a:spcAft>
                          <a:spcPts val="0"/>
                        </a:spcAft>
                        <a:buNone/>
                      </a:pPr>
                      <a:r>
                        <a:rPr b="1" lang="en" sz="1100">
                          <a:solidFill>
                            <a:srgbClr val="1F1F1F"/>
                          </a:solidFill>
                        </a:rPr>
                        <a:t>Lumen Lite Pass 2 (Aggressive)</a:t>
                      </a:r>
                      <a:endParaRPr b="1" sz="1100">
                        <a:solidFill>
                          <a:srgbClr val="1F1F1F"/>
                        </a:solidFill>
                      </a:endParaRPr>
                    </a:p>
                  </a:txBody>
                  <a:tcPr marT="76200" marB="76200" marR="114300" marL="114300">
                    <a:lnL cap="flat" cmpd="sng" w="5450">
                      <a:solidFill>
                        <a:srgbClr val="C4C7C5"/>
                      </a:solidFill>
                      <a:prstDash val="solid"/>
                      <a:round/>
                      <a:headEnd len="sm" w="sm" type="none"/>
                      <a:tailEnd len="sm" w="sm" type="none"/>
                    </a:lnL>
                    <a:lnR cap="flat" cmpd="sng" w="5450">
                      <a:solidFill>
                        <a:srgbClr val="C4C7C5"/>
                      </a:solidFill>
                      <a:prstDash val="solid"/>
                      <a:round/>
                      <a:headEnd len="sm" w="sm" type="none"/>
                      <a:tailEnd len="sm" w="sm" type="none"/>
                    </a:lnR>
                    <a:lnT cap="flat" cmpd="sng" w="5450">
                      <a:solidFill>
                        <a:srgbClr val="C4C7C5"/>
                      </a:solidFill>
                      <a:prstDash val="solid"/>
                      <a:round/>
                      <a:headEnd len="sm" w="sm" type="none"/>
                      <a:tailEnd len="sm" w="sm" type="none"/>
                    </a:lnT>
                    <a:lnB cap="flat" cmpd="sng" w="5450">
                      <a:solidFill>
                        <a:srgbClr val="C4C7C5"/>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 sz="1100">
                          <a:solidFill>
                            <a:srgbClr val="1F1F1F"/>
                          </a:solidFill>
                        </a:rPr>
                        <a:t>Final Gather: 0.5, Scene Detail: 0.2, Max Roughness: 0.2</a:t>
                      </a:r>
                      <a:endParaRPr sz="1100">
                        <a:solidFill>
                          <a:srgbClr val="1F1F1F"/>
                        </a:solidFill>
                      </a:endParaRPr>
                    </a:p>
                  </a:txBody>
                  <a:tcPr marT="76200" marB="76200" marR="114300" marL="114300">
                    <a:lnL cap="flat" cmpd="sng" w="5450">
                      <a:solidFill>
                        <a:srgbClr val="C4C7C5"/>
                      </a:solidFill>
                      <a:prstDash val="solid"/>
                      <a:round/>
                      <a:headEnd len="sm" w="sm" type="none"/>
                      <a:tailEnd len="sm" w="sm" type="none"/>
                    </a:lnL>
                    <a:lnR cap="flat" cmpd="sng" w="5450">
                      <a:solidFill>
                        <a:srgbClr val="C4C7C5"/>
                      </a:solidFill>
                      <a:prstDash val="solid"/>
                      <a:round/>
                      <a:headEnd len="sm" w="sm" type="none"/>
                      <a:tailEnd len="sm" w="sm" type="none"/>
                    </a:lnR>
                    <a:lnT cap="flat" cmpd="sng" w="5450">
                      <a:solidFill>
                        <a:srgbClr val="C4C7C5"/>
                      </a:solidFill>
                      <a:prstDash val="solid"/>
                      <a:round/>
                      <a:headEnd len="sm" w="sm" type="none"/>
                      <a:tailEnd len="sm" w="sm" type="none"/>
                    </a:lnT>
                    <a:lnB cap="flat" cmpd="sng" w="5450">
                      <a:solidFill>
                        <a:srgbClr val="C4C7C5"/>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 sz="1100">
                          <a:solidFill>
                            <a:srgbClr val="1F1F1F"/>
                          </a:solidFill>
                        </a:rPr>
                        <a:t>40 – 45 FPS</a:t>
                      </a:r>
                      <a:endParaRPr sz="1100">
                        <a:solidFill>
                          <a:srgbClr val="1F1F1F"/>
                        </a:solidFill>
                      </a:endParaRPr>
                    </a:p>
                  </a:txBody>
                  <a:tcPr marT="76200" marB="76200" marR="114300" marL="114300">
                    <a:lnL cap="flat" cmpd="sng" w="5450">
                      <a:solidFill>
                        <a:srgbClr val="C4C7C5"/>
                      </a:solidFill>
                      <a:prstDash val="solid"/>
                      <a:round/>
                      <a:headEnd len="sm" w="sm" type="none"/>
                      <a:tailEnd len="sm" w="sm" type="none"/>
                    </a:lnL>
                    <a:lnR cap="flat" cmpd="sng" w="5450">
                      <a:solidFill>
                        <a:srgbClr val="C4C7C5"/>
                      </a:solidFill>
                      <a:prstDash val="solid"/>
                      <a:round/>
                      <a:headEnd len="sm" w="sm" type="none"/>
                      <a:tailEnd len="sm" w="sm" type="none"/>
                    </a:lnR>
                    <a:lnT cap="flat" cmpd="sng" w="5450">
                      <a:solidFill>
                        <a:srgbClr val="C4C7C5"/>
                      </a:solidFill>
                      <a:prstDash val="solid"/>
                      <a:round/>
                      <a:headEnd len="sm" w="sm" type="none"/>
                      <a:tailEnd len="sm" w="sm" type="none"/>
                    </a:lnT>
                    <a:lnB cap="flat" cmpd="sng" w="5450">
                      <a:solidFill>
                        <a:srgbClr val="C4C7C5"/>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 sz="1100">
                          <a:solidFill>
                            <a:srgbClr val="1F1F1F"/>
                          </a:solidFill>
                        </a:rPr>
                        <a:t>Standalone highs of 52 FPS; occasional dips to 35 FPS</a:t>
                      </a:r>
                      <a:endParaRPr sz="1100">
                        <a:solidFill>
                          <a:srgbClr val="1F1F1F"/>
                        </a:solidFill>
                      </a:endParaRPr>
                    </a:p>
                  </a:txBody>
                  <a:tcPr marT="76200" marB="76200" marR="114300" marL="114300">
                    <a:lnL cap="flat" cmpd="sng" w="5450">
                      <a:solidFill>
                        <a:srgbClr val="C4C7C5"/>
                      </a:solidFill>
                      <a:prstDash val="solid"/>
                      <a:round/>
                      <a:headEnd len="sm" w="sm" type="none"/>
                      <a:tailEnd len="sm" w="sm" type="none"/>
                    </a:lnL>
                    <a:lnR cap="flat" cmpd="sng" w="5450">
                      <a:solidFill>
                        <a:srgbClr val="C4C7C5"/>
                      </a:solidFill>
                      <a:prstDash val="solid"/>
                      <a:round/>
                      <a:headEnd len="sm" w="sm" type="none"/>
                      <a:tailEnd len="sm" w="sm" type="none"/>
                    </a:lnR>
                    <a:lnT cap="flat" cmpd="sng" w="5450">
                      <a:solidFill>
                        <a:srgbClr val="C4C7C5"/>
                      </a:solidFill>
                      <a:prstDash val="solid"/>
                      <a:round/>
                      <a:headEnd len="sm" w="sm" type="none"/>
                      <a:tailEnd len="sm" w="sm" type="none"/>
                    </a:lnT>
                    <a:lnB cap="flat" cmpd="sng" w="5450">
                      <a:solidFill>
                        <a:srgbClr val="C4C7C5"/>
                      </a:solidFill>
                      <a:prstDash val="solid"/>
                      <a:round/>
                      <a:headEnd len="sm" w="sm" type="none"/>
                      <a:tailEnd len="sm" w="sm" type="none"/>
                    </a:lnB>
                  </a:tcPr>
                </a:tc>
              </a:tr>
              <a:tr h="718450">
                <a:tc>
                  <a:txBody>
                    <a:bodyPr/>
                    <a:lstStyle/>
                    <a:p>
                      <a:pPr indent="0" lvl="0" marL="0" rtl="0" algn="l">
                        <a:lnSpc>
                          <a:spcPct val="115000"/>
                        </a:lnSpc>
                        <a:spcBef>
                          <a:spcPts val="0"/>
                        </a:spcBef>
                        <a:spcAft>
                          <a:spcPts val="0"/>
                        </a:spcAft>
                        <a:buNone/>
                      </a:pPr>
                      <a:r>
                        <a:rPr b="1" lang="en" sz="1100">
                          <a:solidFill>
                            <a:srgbClr val="1F1F1F"/>
                          </a:solidFill>
                        </a:rPr>
                        <a:t>VFX &amp; Atmosphere Culling</a:t>
                      </a:r>
                      <a:endParaRPr b="1" sz="1100">
                        <a:solidFill>
                          <a:srgbClr val="1F1F1F"/>
                        </a:solidFill>
                      </a:endParaRPr>
                    </a:p>
                  </a:txBody>
                  <a:tcPr marT="76200" marB="76200" marR="114300" marL="114300">
                    <a:lnL cap="flat" cmpd="sng" w="5450">
                      <a:solidFill>
                        <a:srgbClr val="C4C7C5"/>
                      </a:solidFill>
                      <a:prstDash val="solid"/>
                      <a:round/>
                      <a:headEnd len="sm" w="sm" type="none"/>
                      <a:tailEnd len="sm" w="sm" type="none"/>
                    </a:lnL>
                    <a:lnR cap="flat" cmpd="sng" w="5450">
                      <a:solidFill>
                        <a:srgbClr val="C4C7C5"/>
                      </a:solidFill>
                      <a:prstDash val="solid"/>
                      <a:round/>
                      <a:headEnd len="sm" w="sm" type="none"/>
                      <a:tailEnd len="sm" w="sm" type="none"/>
                    </a:lnR>
                    <a:lnT cap="flat" cmpd="sng" w="5450">
                      <a:solidFill>
                        <a:srgbClr val="C4C7C5"/>
                      </a:solidFill>
                      <a:prstDash val="solid"/>
                      <a:round/>
                      <a:headEnd len="sm" w="sm" type="none"/>
                      <a:tailEnd len="sm" w="sm" type="none"/>
                    </a:lnT>
                    <a:lnB cap="flat" cmpd="sng" w="5450">
                      <a:solidFill>
                        <a:srgbClr val="C4C7C5"/>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 sz="1100">
                          <a:solidFill>
                            <a:srgbClr val="1F1F1F"/>
                          </a:solidFill>
                        </a:rPr>
                        <a:t>Removed 10 Niagara fly systems, dynamic skies &amp; fog pass</a:t>
                      </a:r>
                      <a:endParaRPr sz="1100">
                        <a:solidFill>
                          <a:srgbClr val="1F1F1F"/>
                        </a:solidFill>
                      </a:endParaRPr>
                    </a:p>
                  </a:txBody>
                  <a:tcPr marT="76200" marB="76200" marR="114300" marL="114300">
                    <a:lnL cap="flat" cmpd="sng" w="5450">
                      <a:solidFill>
                        <a:srgbClr val="C4C7C5"/>
                      </a:solidFill>
                      <a:prstDash val="solid"/>
                      <a:round/>
                      <a:headEnd len="sm" w="sm" type="none"/>
                      <a:tailEnd len="sm" w="sm" type="none"/>
                    </a:lnL>
                    <a:lnR cap="flat" cmpd="sng" w="5450">
                      <a:solidFill>
                        <a:srgbClr val="C4C7C5"/>
                      </a:solidFill>
                      <a:prstDash val="solid"/>
                      <a:round/>
                      <a:headEnd len="sm" w="sm" type="none"/>
                      <a:tailEnd len="sm" w="sm" type="none"/>
                    </a:lnR>
                    <a:lnT cap="flat" cmpd="sng" w="5450">
                      <a:solidFill>
                        <a:srgbClr val="C4C7C5"/>
                      </a:solidFill>
                      <a:prstDash val="solid"/>
                      <a:round/>
                      <a:headEnd len="sm" w="sm" type="none"/>
                      <a:tailEnd len="sm" w="sm" type="none"/>
                    </a:lnT>
                    <a:lnB cap="flat" cmpd="sng" w="5450">
                      <a:solidFill>
                        <a:srgbClr val="C4C7C5"/>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 sz="1100">
                          <a:solidFill>
                            <a:srgbClr val="1F1F1F"/>
                          </a:solidFill>
                        </a:rPr>
                        <a:t>~44 – 50 FPS</a:t>
                      </a:r>
                      <a:endParaRPr sz="1100">
                        <a:solidFill>
                          <a:srgbClr val="1F1F1F"/>
                        </a:solidFill>
                      </a:endParaRPr>
                    </a:p>
                  </a:txBody>
                  <a:tcPr marT="76200" marB="76200" marR="114300" marL="114300">
                    <a:lnL cap="flat" cmpd="sng" w="5450">
                      <a:solidFill>
                        <a:srgbClr val="C4C7C5"/>
                      </a:solidFill>
                      <a:prstDash val="solid"/>
                      <a:round/>
                      <a:headEnd len="sm" w="sm" type="none"/>
                      <a:tailEnd len="sm" w="sm" type="none"/>
                    </a:lnL>
                    <a:lnR cap="flat" cmpd="sng" w="5450">
                      <a:solidFill>
                        <a:srgbClr val="C4C7C5"/>
                      </a:solidFill>
                      <a:prstDash val="solid"/>
                      <a:round/>
                      <a:headEnd len="sm" w="sm" type="none"/>
                      <a:tailEnd len="sm" w="sm" type="none"/>
                    </a:lnR>
                    <a:lnT cap="flat" cmpd="sng" w="5450">
                      <a:solidFill>
                        <a:srgbClr val="C4C7C5"/>
                      </a:solidFill>
                      <a:prstDash val="solid"/>
                      <a:round/>
                      <a:headEnd len="sm" w="sm" type="none"/>
                      <a:tailEnd len="sm" w="sm" type="none"/>
                    </a:lnT>
                    <a:lnB cap="flat" cmpd="sng" w="5450">
                      <a:solidFill>
                        <a:srgbClr val="C4C7C5"/>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 sz="1100">
                          <a:solidFill>
                            <a:srgbClr val="1F1F1F"/>
                          </a:solidFill>
                        </a:rPr>
                        <a:t>Much tighter average; eliminated heavy particle hitches</a:t>
                      </a:r>
                      <a:endParaRPr sz="1100">
                        <a:solidFill>
                          <a:srgbClr val="1F1F1F"/>
                        </a:solidFill>
                      </a:endParaRPr>
                    </a:p>
                  </a:txBody>
                  <a:tcPr marT="76200" marB="76200" marR="114300" marL="114300">
                    <a:lnL cap="flat" cmpd="sng" w="5450">
                      <a:solidFill>
                        <a:srgbClr val="C4C7C5"/>
                      </a:solidFill>
                      <a:prstDash val="solid"/>
                      <a:round/>
                      <a:headEnd len="sm" w="sm" type="none"/>
                      <a:tailEnd len="sm" w="sm" type="none"/>
                    </a:lnL>
                    <a:lnR cap="flat" cmpd="sng" w="5450">
                      <a:solidFill>
                        <a:srgbClr val="C4C7C5"/>
                      </a:solidFill>
                      <a:prstDash val="solid"/>
                      <a:round/>
                      <a:headEnd len="sm" w="sm" type="none"/>
                      <a:tailEnd len="sm" w="sm" type="none"/>
                    </a:lnR>
                    <a:lnT cap="flat" cmpd="sng" w="5450">
                      <a:solidFill>
                        <a:srgbClr val="C4C7C5"/>
                      </a:solidFill>
                      <a:prstDash val="solid"/>
                      <a:round/>
                      <a:headEnd len="sm" w="sm" type="none"/>
                      <a:tailEnd len="sm" w="sm" type="none"/>
                    </a:lnT>
                    <a:lnB cap="flat" cmpd="sng" w="5450">
                      <a:solidFill>
                        <a:srgbClr val="C4C7C5"/>
                      </a:solidFill>
                      <a:prstDash val="solid"/>
                      <a:round/>
                      <a:headEnd len="sm" w="sm" type="none"/>
                      <a:tailEnd len="sm" w="sm" type="none"/>
                    </a:lnB>
                  </a:tcPr>
                </a:tc>
              </a:tr>
            </a:tbl>
          </a:graphicData>
        </a:graphic>
      </p:graphicFrame>
      <p:sp>
        <p:nvSpPr>
          <p:cNvPr id="108" name="Google Shape;108;p21"/>
          <p:cNvSpPr txBox="1"/>
          <p:nvPr/>
        </p:nvSpPr>
        <p:spPr>
          <a:xfrm>
            <a:off x="33050" y="38875"/>
            <a:ext cx="9048900" cy="530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800">
                <a:solidFill>
                  <a:schemeClr val="dk2"/>
                </a:solidFill>
              </a:rPr>
              <a:t>LOF0 Build </a:t>
            </a:r>
            <a:r>
              <a:rPr lang="en" sz="1800">
                <a:solidFill>
                  <a:schemeClr val="dk2"/>
                </a:solidFill>
              </a:rPr>
              <a:t>Exact</a:t>
            </a:r>
            <a:r>
              <a:rPr lang="en" sz="1800">
                <a:solidFill>
                  <a:schemeClr val="dk2"/>
                </a:solidFill>
              </a:rPr>
              <a:t> stats (At the end)</a:t>
            </a:r>
            <a:endParaRPr sz="1800">
              <a:solidFill>
                <a:schemeClr val="dk2"/>
              </a:solidFill>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2" name="Shape 112"/>
        <p:cNvGrpSpPr/>
        <p:nvPr/>
      </p:nvGrpSpPr>
      <p:grpSpPr>
        <a:xfrm>
          <a:off x="0" y="0"/>
          <a:ext cx="0" cy="0"/>
          <a:chOff x="0" y="0"/>
          <a:chExt cx="0" cy="0"/>
        </a:xfrm>
      </p:grpSpPr>
      <p:sp>
        <p:nvSpPr>
          <p:cNvPr id="113" name="Google Shape;113;p22"/>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Some Issues (LOF0)</a:t>
            </a:r>
            <a:endParaRPr/>
          </a:p>
        </p:txBody>
      </p:sp>
      <p:sp>
        <p:nvSpPr>
          <p:cNvPr id="114" name="Google Shape;114;p22"/>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b="1" lang="en" sz="1100">
                <a:solidFill>
                  <a:schemeClr val="dk1"/>
                </a:solidFill>
              </a:rPr>
              <a:t>The 5-Minute Degradation Bug (45 to sub 30 FPS):</a:t>
            </a:r>
            <a:r>
              <a:rPr lang="en" sz="1100">
                <a:solidFill>
                  <a:schemeClr val="dk1"/>
                </a:solidFill>
              </a:rPr>
              <a:t> </a:t>
            </a:r>
            <a:endParaRPr sz="1100">
              <a:solidFill>
                <a:schemeClr val="dk1"/>
              </a:solidFill>
            </a:endParaRPr>
          </a:p>
          <a:p>
            <a:pPr indent="0" lvl="0" marL="457200" rtl="0" algn="l">
              <a:spcBef>
                <a:spcPts val="1200"/>
              </a:spcBef>
              <a:spcAft>
                <a:spcPts val="0"/>
              </a:spcAft>
              <a:buNone/>
            </a:pPr>
            <a:r>
              <a:rPr lang="en" sz="1100">
                <a:solidFill>
                  <a:schemeClr val="dk1"/>
                </a:solidFill>
              </a:rPr>
              <a:t>The engine boots at 45 FPS before steadily degrading to sub-30 FPS over a 5-minute session. This progressive drop was present from the initial baseline prior to activating Lumen, pointing toward garbage collection stalls and cumulative memory/resource leaks rather than static shader complexity. </a:t>
            </a:r>
            <a:endParaRPr sz="1100">
              <a:solidFill>
                <a:schemeClr val="dk1"/>
              </a:solidFill>
            </a:endParaRPr>
          </a:p>
          <a:p>
            <a:pPr indent="0" lvl="0" marL="0" rtl="0" algn="l">
              <a:spcBef>
                <a:spcPts val="1200"/>
              </a:spcBef>
              <a:spcAft>
                <a:spcPts val="0"/>
              </a:spcAft>
              <a:buNone/>
            </a:pPr>
            <a:r>
              <a:rPr b="1" lang="en" sz="1100">
                <a:solidFill>
                  <a:schemeClr val="dk1"/>
                </a:solidFill>
              </a:rPr>
              <a:t>Niagara Particle Culling:</a:t>
            </a:r>
            <a:r>
              <a:rPr lang="en" sz="1100">
                <a:solidFill>
                  <a:schemeClr val="dk1"/>
                </a:solidFill>
              </a:rPr>
              <a:t> </a:t>
            </a:r>
            <a:endParaRPr sz="1100">
              <a:solidFill>
                <a:schemeClr val="dk1"/>
              </a:solidFill>
            </a:endParaRPr>
          </a:p>
          <a:p>
            <a:pPr indent="0" lvl="0" marL="457200" rtl="0" algn="l">
              <a:spcBef>
                <a:spcPts val="1200"/>
              </a:spcBef>
              <a:spcAft>
                <a:spcPts val="0"/>
              </a:spcAft>
              <a:buNone/>
            </a:pPr>
            <a:r>
              <a:rPr lang="en" sz="1100">
                <a:solidFill>
                  <a:schemeClr val="dk1"/>
                </a:solidFill>
              </a:rPr>
              <a:t>Unreal Insights profiling revealed that 10 concurrently active fly emitters were triggering severe frame-time spikes on the render thread, requiring their removal to stabilize performance.</a:t>
            </a:r>
            <a:endParaRPr sz="1100">
              <a:solidFill>
                <a:schemeClr val="dk1"/>
              </a:solidFill>
            </a:endParaRPr>
          </a:p>
          <a:p>
            <a:pPr indent="0" lvl="0" marL="0" rtl="0" algn="l">
              <a:spcBef>
                <a:spcPts val="1200"/>
              </a:spcBef>
              <a:spcAft>
                <a:spcPts val="0"/>
              </a:spcAft>
              <a:buNone/>
            </a:pPr>
            <a:r>
              <a:rPr b="1" lang="en" sz="1100">
                <a:solidFill>
                  <a:schemeClr val="dk1"/>
                </a:solidFill>
              </a:rPr>
              <a:t>Editor-Only Profiling Constraints:</a:t>
            </a:r>
            <a:r>
              <a:rPr lang="en" sz="1100">
                <a:solidFill>
                  <a:schemeClr val="dk1"/>
                </a:solidFill>
              </a:rPr>
              <a:t> </a:t>
            </a:r>
            <a:endParaRPr sz="1100">
              <a:solidFill>
                <a:schemeClr val="dk1"/>
              </a:solidFill>
            </a:endParaRPr>
          </a:p>
          <a:p>
            <a:pPr indent="0" lvl="0" marL="457200" rtl="0" algn="l">
              <a:spcBef>
                <a:spcPts val="1200"/>
              </a:spcBef>
              <a:spcAft>
                <a:spcPts val="1200"/>
              </a:spcAft>
              <a:buNone/>
            </a:pPr>
            <a:r>
              <a:rPr lang="en" sz="1100">
                <a:solidFill>
                  <a:schemeClr val="dk1"/>
                </a:solidFill>
              </a:rPr>
              <a:t>Testing had to be conducted directly within the Unreal Editor due to the lack of a standalone/packaged development build, introducing editor overhead and background process noise to frame-time captures. </a:t>
            </a:r>
            <a:endParaRPr sz="1100">
              <a:solidFill>
                <a:schemeClr val="dk1"/>
              </a:solidFill>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8" name="Shape 118"/>
        <p:cNvGrpSpPr/>
        <p:nvPr/>
      </p:nvGrpSpPr>
      <p:grpSpPr>
        <a:xfrm>
          <a:off x="0" y="0"/>
          <a:ext cx="0" cy="0"/>
          <a:chOff x="0" y="0"/>
          <a:chExt cx="0" cy="0"/>
        </a:xfrm>
      </p:grpSpPr>
      <p:sp>
        <p:nvSpPr>
          <p:cNvPr id="119" name="Google Shape;119;p23"/>
          <p:cNvSpPr txBox="1"/>
          <p:nvPr>
            <p:ph type="title"/>
          </p:nvPr>
        </p:nvSpPr>
        <p:spPr>
          <a:xfrm>
            <a:off x="311700" y="445025"/>
            <a:ext cx="1870800" cy="32742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Handout Card</a:t>
            </a:r>
            <a:br>
              <a:rPr lang="en"/>
            </a:br>
            <a:r>
              <a:rPr lang="en"/>
              <a:t>LOF1</a:t>
            </a:r>
            <a:endParaRPr/>
          </a:p>
        </p:txBody>
      </p:sp>
      <p:pic>
        <p:nvPicPr>
          <p:cNvPr id="120" name="Google Shape;120;p23"/>
          <p:cNvPicPr preferRelativeResize="0"/>
          <p:nvPr/>
        </p:nvPicPr>
        <p:blipFill>
          <a:blip r:embed="rId3">
            <a:alphaModFix/>
          </a:blip>
          <a:stretch>
            <a:fillRect/>
          </a:stretch>
        </p:blipFill>
        <p:spPr>
          <a:xfrm>
            <a:off x="2265925" y="0"/>
            <a:ext cx="4572557" cy="5143501"/>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4" name="Shape 124"/>
        <p:cNvGrpSpPr/>
        <p:nvPr/>
      </p:nvGrpSpPr>
      <p:grpSpPr>
        <a:xfrm>
          <a:off x="0" y="0"/>
          <a:ext cx="0" cy="0"/>
          <a:chOff x="0" y="0"/>
          <a:chExt cx="0" cy="0"/>
        </a:xfrm>
      </p:grpSpPr>
      <p:graphicFrame>
        <p:nvGraphicFramePr>
          <p:cNvPr id="125" name="Google Shape;125;p24"/>
          <p:cNvGraphicFramePr/>
          <p:nvPr/>
        </p:nvGraphicFramePr>
        <p:xfrm>
          <a:off x="152400" y="152400"/>
          <a:ext cx="3000000" cy="3000000"/>
        </p:xfrm>
        <a:graphic>
          <a:graphicData uri="http://schemas.openxmlformats.org/drawingml/2006/table">
            <a:tbl>
              <a:tblPr>
                <a:noFill/>
                <a:tableStyleId>{BB671803-D0E6-41DD-8D27-9BE71D5C2A9A}</a:tableStyleId>
              </a:tblPr>
              <a:tblGrid>
                <a:gridCol w="1600200"/>
                <a:gridCol w="1019175"/>
                <a:gridCol w="5276850"/>
                <a:gridCol w="933450"/>
              </a:tblGrid>
              <a:tr h="342900">
                <a:tc>
                  <a:txBody>
                    <a:bodyPr/>
                    <a:lstStyle/>
                    <a:p>
                      <a:pPr indent="0" lvl="0" marL="0" rtl="0" algn="l">
                        <a:lnSpc>
                          <a:spcPct val="115000"/>
                        </a:lnSpc>
                        <a:spcBef>
                          <a:spcPts val="0"/>
                        </a:spcBef>
                        <a:spcAft>
                          <a:spcPts val="0"/>
                        </a:spcAft>
                        <a:buNone/>
                      </a:pPr>
                      <a:r>
                        <a:rPr b="1" lang="en" sz="1100">
                          <a:solidFill>
                            <a:srgbClr val="1F1F1F"/>
                          </a:solidFill>
                        </a:rPr>
                        <a:t>Requirement</a:t>
                      </a:r>
                      <a:endParaRPr b="1" sz="1100">
                        <a:solidFill>
                          <a:srgbClr val="1F1F1F"/>
                        </a:solidFill>
                      </a:endParaRPr>
                    </a:p>
                  </a:txBody>
                  <a:tcPr marT="76200" marB="76200" marR="114300" marL="114300">
                    <a:lnL cap="flat" cmpd="sng" w="5450">
                      <a:solidFill>
                        <a:srgbClr val="C4C7C5"/>
                      </a:solidFill>
                      <a:prstDash val="solid"/>
                      <a:round/>
                      <a:headEnd len="sm" w="sm" type="none"/>
                      <a:tailEnd len="sm" w="sm" type="none"/>
                    </a:lnL>
                    <a:lnR cap="flat" cmpd="sng" w="5450">
                      <a:solidFill>
                        <a:srgbClr val="C4C7C5"/>
                      </a:solidFill>
                      <a:prstDash val="solid"/>
                      <a:round/>
                      <a:headEnd len="sm" w="sm" type="none"/>
                      <a:tailEnd len="sm" w="sm" type="none"/>
                    </a:lnR>
                    <a:lnT cap="flat" cmpd="sng" w="5450">
                      <a:solidFill>
                        <a:srgbClr val="C4C7C5"/>
                      </a:solidFill>
                      <a:prstDash val="solid"/>
                      <a:round/>
                      <a:headEnd len="sm" w="sm" type="none"/>
                      <a:tailEnd len="sm" w="sm" type="none"/>
                    </a:lnT>
                    <a:lnB cap="flat" cmpd="sng" w="5450">
                      <a:solidFill>
                        <a:srgbClr val="C4C7C5"/>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b="1" lang="en" sz="1100">
                          <a:solidFill>
                            <a:srgbClr val="1F1F1F"/>
                          </a:solidFill>
                        </a:rPr>
                        <a:t>Priority</a:t>
                      </a:r>
                      <a:endParaRPr b="1" sz="1100">
                        <a:solidFill>
                          <a:srgbClr val="1F1F1F"/>
                        </a:solidFill>
                      </a:endParaRPr>
                    </a:p>
                  </a:txBody>
                  <a:tcPr marT="76200" marB="76200" marR="114300" marL="114300">
                    <a:lnL cap="flat" cmpd="sng" w="5450">
                      <a:solidFill>
                        <a:srgbClr val="C4C7C5"/>
                      </a:solidFill>
                      <a:prstDash val="solid"/>
                      <a:round/>
                      <a:headEnd len="sm" w="sm" type="none"/>
                      <a:tailEnd len="sm" w="sm" type="none"/>
                    </a:lnL>
                    <a:lnR cap="flat" cmpd="sng" w="5450">
                      <a:solidFill>
                        <a:srgbClr val="C4C7C5"/>
                      </a:solidFill>
                      <a:prstDash val="solid"/>
                      <a:round/>
                      <a:headEnd len="sm" w="sm" type="none"/>
                      <a:tailEnd len="sm" w="sm" type="none"/>
                    </a:lnR>
                    <a:lnT cap="flat" cmpd="sng" w="5450">
                      <a:solidFill>
                        <a:srgbClr val="C4C7C5"/>
                      </a:solidFill>
                      <a:prstDash val="solid"/>
                      <a:round/>
                      <a:headEnd len="sm" w="sm" type="none"/>
                      <a:tailEnd len="sm" w="sm" type="none"/>
                    </a:lnT>
                    <a:lnB cap="flat" cmpd="sng" w="5450">
                      <a:solidFill>
                        <a:srgbClr val="C4C7C5"/>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b="1" lang="en" sz="1100">
                          <a:solidFill>
                            <a:srgbClr val="1F1F1F"/>
                          </a:solidFill>
                        </a:rPr>
                        <a:t>Implementation / Evidence</a:t>
                      </a:r>
                      <a:endParaRPr b="1" sz="1100">
                        <a:solidFill>
                          <a:srgbClr val="1F1F1F"/>
                        </a:solidFill>
                      </a:endParaRPr>
                    </a:p>
                  </a:txBody>
                  <a:tcPr marT="76200" marB="76200" marR="114300" marL="114300">
                    <a:lnL cap="flat" cmpd="sng" w="5450">
                      <a:solidFill>
                        <a:srgbClr val="C4C7C5"/>
                      </a:solidFill>
                      <a:prstDash val="solid"/>
                      <a:round/>
                      <a:headEnd len="sm" w="sm" type="none"/>
                      <a:tailEnd len="sm" w="sm" type="none"/>
                    </a:lnL>
                    <a:lnR cap="flat" cmpd="sng" w="5450">
                      <a:solidFill>
                        <a:srgbClr val="C4C7C5"/>
                      </a:solidFill>
                      <a:prstDash val="solid"/>
                      <a:round/>
                      <a:headEnd len="sm" w="sm" type="none"/>
                      <a:tailEnd len="sm" w="sm" type="none"/>
                    </a:lnR>
                    <a:lnT cap="flat" cmpd="sng" w="5450">
                      <a:solidFill>
                        <a:srgbClr val="C4C7C5"/>
                      </a:solidFill>
                      <a:prstDash val="solid"/>
                      <a:round/>
                      <a:headEnd len="sm" w="sm" type="none"/>
                      <a:tailEnd len="sm" w="sm" type="none"/>
                    </a:lnT>
                    <a:lnB cap="flat" cmpd="sng" w="5450">
                      <a:solidFill>
                        <a:srgbClr val="C4C7C5"/>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b="1" lang="en" sz="1100">
                          <a:solidFill>
                            <a:srgbClr val="1F1F1F"/>
                          </a:solidFill>
                        </a:rPr>
                        <a:t>Status</a:t>
                      </a:r>
                      <a:endParaRPr b="1" sz="1100">
                        <a:solidFill>
                          <a:srgbClr val="1F1F1F"/>
                        </a:solidFill>
                      </a:endParaRPr>
                    </a:p>
                  </a:txBody>
                  <a:tcPr marT="76200" marB="76200" marR="114300" marL="114300">
                    <a:lnL cap="flat" cmpd="sng" w="5450">
                      <a:solidFill>
                        <a:srgbClr val="C4C7C5"/>
                      </a:solidFill>
                      <a:prstDash val="solid"/>
                      <a:round/>
                      <a:headEnd len="sm" w="sm" type="none"/>
                      <a:tailEnd len="sm" w="sm" type="none"/>
                    </a:lnL>
                    <a:lnR cap="flat" cmpd="sng" w="5450">
                      <a:solidFill>
                        <a:srgbClr val="C4C7C5"/>
                      </a:solidFill>
                      <a:prstDash val="solid"/>
                      <a:round/>
                      <a:headEnd len="sm" w="sm" type="none"/>
                      <a:tailEnd len="sm" w="sm" type="none"/>
                    </a:lnR>
                    <a:lnT cap="flat" cmpd="sng" w="5450">
                      <a:solidFill>
                        <a:srgbClr val="C4C7C5"/>
                      </a:solidFill>
                      <a:prstDash val="solid"/>
                      <a:round/>
                      <a:headEnd len="sm" w="sm" type="none"/>
                      <a:tailEnd len="sm" w="sm" type="none"/>
                    </a:lnT>
                    <a:lnB cap="flat" cmpd="sng" w="5450">
                      <a:solidFill>
                        <a:srgbClr val="C4C7C5"/>
                      </a:solidFill>
                      <a:prstDash val="solid"/>
                      <a:round/>
                      <a:headEnd len="sm" w="sm" type="none"/>
                      <a:tailEnd len="sm" w="sm" type="none"/>
                    </a:lnB>
                  </a:tcPr>
                </a:tc>
              </a:tr>
              <a:tr h="752475">
                <a:tc>
                  <a:txBody>
                    <a:bodyPr/>
                    <a:lstStyle/>
                    <a:p>
                      <a:pPr indent="0" lvl="0" marL="0" rtl="0" algn="l">
                        <a:lnSpc>
                          <a:spcPct val="115000"/>
                        </a:lnSpc>
                        <a:spcBef>
                          <a:spcPts val="0"/>
                        </a:spcBef>
                        <a:spcAft>
                          <a:spcPts val="0"/>
                        </a:spcAft>
                        <a:buNone/>
                      </a:pPr>
                      <a:r>
                        <a:rPr b="1" lang="en" sz="1100">
                          <a:solidFill>
                            <a:srgbClr val="1F1F1F"/>
                          </a:solidFill>
                        </a:rPr>
                        <a:t>Find cause of frame drops</a:t>
                      </a:r>
                      <a:endParaRPr b="1" sz="1100">
                        <a:solidFill>
                          <a:srgbClr val="1F1F1F"/>
                        </a:solidFill>
                      </a:endParaRPr>
                    </a:p>
                  </a:txBody>
                  <a:tcPr marT="76200" marB="76200" marR="114300" marL="114300">
                    <a:lnL cap="flat" cmpd="sng" w="5450">
                      <a:solidFill>
                        <a:srgbClr val="C4C7C5"/>
                      </a:solidFill>
                      <a:prstDash val="solid"/>
                      <a:round/>
                      <a:headEnd len="sm" w="sm" type="none"/>
                      <a:tailEnd len="sm" w="sm" type="none"/>
                    </a:lnL>
                    <a:lnR cap="flat" cmpd="sng" w="5450">
                      <a:solidFill>
                        <a:srgbClr val="C4C7C5"/>
                      </a:solidFill>
                      <a:prstDash val="solid"/>
                      <a:round/>
                      <a:headEnd len="sm" w="sm" type="none"/>
                      <a:tailEnd len="sm" w="sm" type="none"/>
                    </a:lnR>
                    <a:lnT cap="flat" cmpd="sng" w="5450">
                      <a:solidFill>
                        <a:srgbClr val="C4C7C5"/>
                      </a:solidFill>
                      <a:prstDash val="solid"/>
                      <a:round/>
                      <a:headEnd len="sm" w="sm" type="none"/>
                      <a:tailEnd len="sm" w="sm" type="none"/>
                    </a:lnT>
                    <a:lnB cap="flat" cmpd="sng" w="5450">
                      <a:solidFill>
                        <a:srgbClr val="C4C7C5"/>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b="1" lang="en" sz="1100">
                          <a:solidFill>
                            <a:srgbClr val="1F1F1F"/>
                          </a:solidFill>
                        </a:rPr>
                        <a:t>Must</a:t>
                      </a:r>
                      <a:r>
                        <a:rPr lang="en" sz="1100">
                          <a:solidFill>
                            <a:srgbClr val="1F1F1F"/>
                          </a:solidFill>
                        </a:rPr>
                        <a:t> | R:High</a:t>
                      </a:r>
                      <a:endParaRPr sz="1100">
                        <a:solidFill>
                          <a:srgbClr val="1F1F1F"/>
                        </a:solidFill>
                      </a:endParaRPr>
                    </a:p>
                  </a:txBody>
                  <a:tcPr marT="76200" marB="76200" marR="114300" marL="114300">
                    <a:lnL cap="flat" cmpd="sng" w="5450">
                      <a:solidFill>
                        <a:srgbClr val="C4C7C5"/>
                      </a:solidFill>
                      <a:prstDash val="solid"/>
                      <a:round/>
                      <a:headEnd len="sm" w="sm" type="none"/>
                      <a:tailEnd len="sm" w="sm" type="none"/>
                    </a:lnL>
                    <a:lnR cap="flat" cmpd="sng" w="5450">
                      <a:solidFill>
                        <a:srgbClr val="C4C7C5"/>
                      </a:solidFill>
                      <a:prstDash val="solid"/>
                      <a:round/>
                      <a:headEnd len="sm" w="sm" type="none"/>
                      <a:tailEnd len="sm" w="sm" type="none"/>
                    </a:lnR>
                    <a:lnT cap="flat" cmpd="sng" w="5450">
                      <a:solidFill>
                        <a:srgbClr val="C4C7C5"/>
                      </a:solidFill>
                      <a:prstDash val="solid"/>
                      <a:round/>
                      <a:headEnd len="sm" w="sm" type="none"/>
                      <a:tailEnd len="sm" w="sm" type="none"/>
                    </a:lnT>
                    <a:lnB cap="flat" cmpd="sng" w="5450">
                      <a:solidFill>
                        <a:srgbClr val="C4C7C5"/>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 sz="1100">
                          <a:solidFill>
                            <a:srgbClr val="1F1F1F"/>
                          </a:solidFill>
                        </a:rPr>
                        <a:t>Identified RT memory thrashing (406MB cap), shadow depth spikes (6.2ms), high draw calls (950+), and Niagara CPU stalls via </a:t>
                      </a:r>
                      <a:r>
                        <a:rPr lang="en" sz="1150">
                          <a:solidFill>
                            <a:srgbClr val="188038"/>
                          </a:solidFill>
                          <a:highlight>
                            <a:srgbClr val="F2F0F0"/>
                          </a:highlight>
                        </a:rPr>
                        <a:t>stat GPU</a:t>
                      </a:r>
                      <a:r>
                        <a:rPr lang="en" sz="1100">
                          <a:solidFill>
                            <a:srgbClr val="1F1F1F"/>
                          </a:solidFill>
                        </a:rPr>
                        <a:t> / Insights.</a:t>
                      </a:r>
                      <a:endParaRPr sz="1100">
                        <a:solidFill>
                          <a:srgbClr val="1F1F1F"/>
                        </a:solidFill>
                      </a:endParaRPr>
                    </a:p>
                  </a:txBody>
                  <a:tcPr marT="76200" marB="76200" marR="114300" marL="114300">
                    <a:lnL cap="flat" cmpd="sng" w="5450">
                      <a:solidFill>
                        <a:srgbClr val="C4C7C5"/>
                      </a:solidFill>
                      <a:prstDash val="solid"/>
                      <a:round/>
                      <a:headEnd len="sm" w="sm" type="none"/>
                      <a:tailEnd len="sm" w="sm" type="none"/>
                    </a:lnL>
                    <a:lnR cap="flat" cmpd="sng" w="5450">
                      <a:solidFill>
                        <a:srgbClr val="C4C7C5"/>
                      </a:solidFill>
                      <a:prstDash val="solid"/>
                      <a:round/>
                      <a:headEnd len="sm" w="sm" type="none"/>
                      <a:tailEnd len="sm" w="sm" type="none"/>
                    </a:lnR>
                    <a:lnT cap="flat" cmpd="sng" w="5450">
                      <a:solidFill>
                        <a:srgbClr val="C4C7C5"/>
                      </a:solidFill>
                      <a:prstDash val="solid"/>
                      <a:round/>
                      <a:headEnd len="sm" w="sm" type="none"/>
                      <a:tailEnd len="sm" w="sm" type="none"/>
                    </a:lnT>
                    <a:lnB cap="flat" cmpd="sng" w="5450">
                      <a:solidFill>
                        <a:srgbClr val="C4C7C5"/>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b="1" lang="en" sz="1100">
                          <a:solidFill>
                            <a:srgbClr val="1F1F1F"/>
                          </a:solidFill>
                        </a:rPr>
                        <a:t>Complete</a:t>
                      </a:r>
                      <a:endParaRPr b="1" sz="1100">
                        <a:solidFill>
                          <a:srgbClr val="1F1F1F"/>
                        </a:solidFill>
                      </a:endParaRPr>
                    </a:p>
                  </a:txBody>
                  <a:tcPr marT="76200" marB="76200" marR="114300" marL="114300">
                    <a:lnL cap="flat" cmpd="sng" w="5450">
                      <a:solidFill>
                        <a:srgbClr val="C4C7C5"/>
                      </a:solidFill>
                      <a:prstDash val="solid"/>
                      <a:round/>
                      <a:headEnd len="sm" w="sm" type="none"/>
                      <a:tailEnd len="sm" w="sm" type="none"/>
                    </a:lnL>
                    <a:lnR cap="flat" cmpd="sng" w="5450">
                      <a:solidFill>
                        <a:srgbClr val="C4C7C5"/>
                      </a:solidFill>
                      <a:prstDash val="solid"/>
                      <a:round/>
                      <a:headEnd len="sm" w="sm" type="none"/>
                      <a:tailEnd len="sm" w="sm" type="none"/>
                    </a:lnR>
                    <a:lnT cap="flat" cmpd="sng" w="5450">
                      <a:solidFill>
                        <a:srgbClr val="C4C7C5"/>
                      </a:solidFill>
                      <a:prstDash val="solid"/>
                      <a:round/>
                      <a:headEnd len="sm" w="sm" type="none"/>
                      <a:tailEnd len="sm" w="sm" type="none"/>
                    </a:lnT>
                    <a:lnB cap="flat" cmpd="sng" w="5450">
                      <a:solidFill>
                        <a:srgbClr val="C4C7C5"/>
                      </a:solidFill>
                      <a:prstDash val="solid"/>
                      <a:round/>
                      <a:headEnd len="sm" w="sm" type="none"/>
                      <a:tailEnd len="sm" w="sm" type="none"/>
                    </a:lnB>
                  </a:tcPr>
                </a:tc>
              </a:tr>
              <a:tr h="514350">
                <a:tc>
                  <a:txBody>
                    <a:bodyPr/>
                    <a:lstStyle/>
                    <a:p>
                      <a:pPr indent="0" lvl="0" marL="0" rtl="0" algn="l">
                        <a:lnSpc>
                          <a:spcPct val="115000"/>
                        </a:lnSpc>
                        <a:spcBef>
                          <a:spcPts val="0"/>
                        </a:spcBef>
                        <a:spcAft>
                          <a:spcPts val="0"/>
                        </a:spcAft>
                        <a:buNone/>
                      </a:pPr>
                      <a:r>
                        <a:rPr b="1" lang="en" sz="1100">
                          <a:solidFill>
                            <a:srgbClr val="1F1F1F"/>
                          </a:solidFill>
                        </a:rPr>
                        <a:t>Fix cause of frame drops</a:t>
                      </a:r>
                      <a:endParaRPr b="1" sz="1100">
                        <a:solidFill>
                          <a:srgbClr val="1F1F1F"/>
                        </a:solidFill>
                      </a:endParaRPr>
                    </a:p>
                  </a:txBody>
                  <a:tcPr marT="76200" marB="76200" marR="114300" marL="114300">
                    <a:lnL cap="flat" cmpd="sng" w="5450">
                      <a:solidFill>
                        <a:srgbClr val="C4C7C5"/>
                      </a:solidFill>
                      <a:prstDash val="solid"/>
                      <a:round/>
                      <a:headEnd len="sm" w="sm" type="none"/>
                      <a:tailEnd len="sm" w="sm" type="none"/>
                    </a:lnL>
                    <a:lnR cap="flat" cmpd="sng" w="5450">
                      <a:solidFill>
                        <a:srgbClr val="C4C7C5"/>
                      </a:solidFill>
                      <a:prstDash val="solid"/>
                      <a:round/>
                      <a:headEnd len="sm" w="sm" type="none"/>
                      <a:tailEnd len="sm" w="sm" type="none"/>
                    </a:lnR>
                    <a:lnT cap="flat" cmpd="sng" w="5450">
                      <a:solidFill>
                        <a:srgbClr val="C4C7C5"/>
                      </a:solidFill>
                      <a:prstDash val="solid"/>
                      <a:round/>
                      <a:headEnd len="sm" w="sm" type="none"/>
                      <a:tailEnd len="sm" w="sm" type="none"/>
                    </a:lnT>
                    <a:lnB cap="flat" cmpd="sng" w="5450">
                      <a:solidFill>
                        <a:srgbClr val="C4C7C5"/>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b="1" lang="en" sz="1100">
                          <a:solidFill>
                            <a:srgbClr val="1F1F1F"/>
                          </a:solidFill>
                        </a:rPr>
                        <a:t>Must</a:t>
                      </a:r>
                      <a:r>
                        <a:rPr lang="en" sz="1100">
                          <a:solidFill>
                            <a:srgbClr val="1F1F1F"/>
                          </a:solidFill>
                        </a:rPr>
                        <a:t> | R:Med</a:t>
                      </a:r>
                      <a:endParaRPr sz="1100">
                        <a:solidFill>
                          <a:srgbClr val="1F1F1F"/>
                        </a:solidFill>
                      </a:endParaRPr>
                    </a:p>
                  </a:txBody>
                  <a:tcPr marT="76200" marB="76200" marR="114300" marL="114300">
                    <a:lnL cap="flat" cmpd="sng" w="5450">
                      <a:solidFill>
                        <a:srgbClr val="C4C7C5"/>
                      </a:solidFill>
                      <a:prstDash val="solid"/>
                      <a:round/>
                      <a:headEnd len="sm" w="sm" type="none"/>
                      <a:tailEnd len="sm" w="sm" type="none"/>
                    </a:lnL>
                    <a:lnR cap="flat" cmpd="sng" w="5450">
                      <a:solidFill>
                        <a:srgbClr val="C4C7C5"/>
                      </a:solidFill>
                      <a:prstDash val="solid"/>
                      <a:round/>
                      <a:headEnd len="sm" w="sm" type="none"/>
                      <a:tailEnd len="sm" w="sm" type="none"/>
                    </a:lnR>
                    <a:lnT cap="flat" cmpd="sng" w="5450">
                      <a:solidFill>
                        <a:srgbClr val="C4C7C5"/>
                      </a:solidFill>
                      <a:prstDash val="solid"/>
                      <a:round/>
                      <a:headEnd len="sm" w="sm" type="none"/>
                      <a:tailEnd len="sm" w="sm" type="none"/>
                    </a:lnT>
                    <a:lnB cap="flat" cmpd="sng" w="5450">
                      <a:solidFill>
                        <a:srgbClr val="C4C7C5"/>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 sz="1100">
                          <a:solidFill>
                            <a:srgbClr val="1F1F1F"/>
                          </a:solidFill>
                        </a:rPr>
                        <a:t>Raised RT memory to 1024MB, clamped shadow distance to 20m, merged meshes into ISMs (&lt;400 draws), disabled Path Tracing.</a:t>
                      </a:r>
                      <a:endParaRPr sz="1100">
                        <a:solidFill>
                          <a:srgbClr val="1F1F1F"/>
                        </a:solidFill>
                      </a:endParaRPr>
                    </a:p>
                  </a:txBody>
                  <a:tcPr marT="76200" marB="76200" marR="114300" marL="114300">
                    <a:lnL cap="flat" cmpd="sng" w="5450">
                      <a:solidFill>
                        <a:srgbClr val="C4C7C5"/>
                      </a:solidFill>
                      <a:prstDash val="solid"/>
                      <a:round/>
                      <a:headEnd len="sm" w="sm" type="none"/>
                      <a:tailEnd len="sm" w="sm" type="none"/>
                    </a:lnL>
                    <a:lnR cap="flat" cmpd="sng" w="5450">
                      <a:solidFill>
                        <a:srgbClr val="C4C7C5"/>
                      </a:solidFill>
                      <a:prstDash val="solid"/>
                      <a:round/>
                      <a:headEnd len="sm" w="sm" type="none"/>
                      <a:tailEnd len="sm" w="sm" type="none"/>
                    </a:lnR>
                    <a:lnT cap="flat" cmpd="sng" w="5450">
                      <a:solidFill>
                        <a:srgbClr val="C4C7C5"/>
                      </a:solidFill>
                      <a:prstDash val="solid"/>
                      <a:round/>
                      <a:headEnd len="sm" w="sm" type="none"/>
                      <a:tailEnd len="sm" w="sm" type="none"/>
                    </a:lnT>
                    <a:lnB cap="flat" cmpd="sng" w="5450">
                      <a:solidFill>
                        <a:srgbClr val="C4C7C5"/>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b="1" lang="en" sz="1100">
                          <a:solidFill>
                            <a:srgbClr val="1F1F1F"/>
                          </a:solidFill>
                        </a:rPr>
                        <a:t>Complete</a:t>
                      </a:r>
                      <a:endParaRPr b="1" sz="1100">
                        <a:solidFill>
                          <a:srgbClr val="1F1F1F"/>
                        </a:solidFill>
                      </a:endParaRPr>
                    </a:p>
                  </a:txBody>
                  <a:tcPr marT="76200" marB="76200" marR="114300" marL="114300">
                    <a:lnL cap="flat" cmpd="sng" w="5450">
                      <a:solidFill>
                        <a:srgbClr val="C4C7C5"/>
                      </a:solidFill>
                      <a:prstDash val="solid"/>
                      <a:round/>
                      <a:headEnd len="sm" w="sm" type="none"/>
                      <a:tailEnd len="sm" w="sm" type="none"/>
                    </a:lnL>
                    <a:lnR cap="flat" cmpd="sng" w="5450">
                      <a:solidFill>
                        <a:srgbClr val="C4C7C5"/>
                      </a:solidFill>
                      <a:prstDash val="solid"/>
                      <a:round/>
                      <a:headEnd len="sm" w="sm" type="none"/>
                      <a:tailEnd len="sm" w="sm" type="none"/>
                    </a:lnR>
                    <a:lnT cap="flat" cmpd="sng" w="5450">
                      <a:solidFill>
                        <a:srgbClr val="C4C7C5"/>
                      </a:solidFill>
                      <a:prstDash val="solid"/>
                      <a:round/>
                      <a:headEnd len="sm" w="sm" type="none"/>
                      <a:tailEnd len="sm" w="sm" type="none"/>
                    </a:lnT>
                    <a:lnB cap="flat" cmpd="sng" w="5450">
                      <a:solidFill>
                        <a:srgbClr val="C4C7C5"/>
                      </a:solidFill>
                      <a:prstDash val="solid"/>
                      <a:round/>
                      <a:headEnd len="sm" w="sm" type="none"/>
                      <a:tailEnd len="sm" w="sm" type="none"/>
                    </a:lnB>
                  </a:tcPr>
                </a:tc>
              </a:tr>
              <a:tr h="514350">
                <a:tc>
                  <a:txBody>
                    <a:bodyPr/>
                    <a:lstStyle/>
                    <a:p>
                      <a:pPr indent="0" lvl="0" marL="0" rtl="0" algn="l">
                        <a:lnSpc>
                          <a:spcPct val="115000"/>
                        </a:lnSpc>
                        <a:spcBef>
                          <a:spcPts val="0"/>
                        </a:spcBef>
                        <a:spcAft>
                          <a:spcPts val="0"/>
                        </a:spcAft>
                        <a:buNone/>
                      </a:pPr>
                      <a:r>
                        <a:rPr b="1" lang="en" sz="1100">
                          <a:solidFill>
                            <a:srgbClr val="1F1F1F"/>
                          </a:solidFill>
                        </a:rPr>
                        <a:t>Lock 60 FPS target</a:t>
                      </a:r>
                      <a:endParaRPr b="1" sz="1100">
                        <a:solidFill>
                          <a:srgbClr val="1F1F1F"/>
                        </a:solidFill>
                      </a:endParaRPr>
                    </a:p>
                  </a:txBody>
                  <a:tcPr marT="76200" marB="76200" marR="114300" marL="114300">
                    <a:lnL cap="flat" cmpd="sng" w="5450">
                      <a:solidFill>
                        <a:srgbClr val="C4C7C5"/>
                      </a:solidFill>
                      <a:prstDash val="solid"/>
                      <a:round/>
                      <a:headEnd len="sm" w="sm" type="none"/>
                      <a:tailEnd len="sm" w="sm" type="none"/>
                    </a:lnL>
                    <a:lnR cap="flat" cmpd="sng" w="5450">
                      <a:solidFill>
                        <a:srgbClr val="C4C7C5"/>
                      </a:solidFill>
                      <a:prstDash val="solid"/>
                      <a:round/>
                      <a:headEnd len="sm" w="sm" type="none"/>
                      <a:tailEnd len="sm" w="sm" type="none"/>
                    </a:lnR>
                    <a:lnT cap="flat" cmpd="sng" w="5450">
                      <a:solidFill>
                        <a:srgbClr val="C4C7C5"/>
                      </a:solidFill>
                      <a:prstDash val="solid"/>
                      <a:round/>
                      <a:headEnd len="sm" w="sm" type="none"/>
                      <a:tailEnd len="sm" w="sm" type="none"/>
                    </a:lnT>
                    <a:lnB cap="flat" cmpd="sng" w="5450">
                      <a:solidFill>
                        <a:srgbClr val="C4C7C5"/>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b="1" lang="en" sz="1100">
                          <a:solidFill>
                            <a:srgbClr val="1F1F1F"/>
                          </a:solidFill>
                        </a:rPr>
                        <a:t>Should</a:t>
                      </a:r>
                      <a:r>
                        <a:rPr lang="en" sz="1100">
                          <a:solidFill>
                            <a:srgbClr val="1F1F1F"/>
                          </a:solidFill>
                        </a:rPr>
                        <a:t> | R:Med</a:t>
                      </a:r>
                      <a:endParaRPr sz="1100">
                        <a:solidFill>
                          <a:srgbClr val="1F1F1F"/>
                        </a:solidFill>
                      </a:endParaRPr>
                    </a:p>
                  </a:txBody>
                  <a:tcPr marT="76200" marB="76200" marR="114300" marL="114300">
                    <a:lnL cap="flat" cmpd="sng" w="5450">
                      <a:solidFill>
                        <a:srgbClr val="C4C7C5"/>
                      </a:solidFill>
                      <a:prstDash val="solid"/>
                      <a:round/>
                      <a:headEnd len="sm" w="sm" type="none"/>
                      <a:tailEnd len="sm" w="sm" type="none"/>
                    </a:lnL>
                    <a:lnR cap="flat" cmpd="sng" w="5450">
                      <a:solidFill>
                        <a:srgbClr val="C4C7C5"/>
                      </a:solidFill>
                      <a:prstDash val="solid"/>
                      <a:round/>
                      <a:headEnd len="sm" w="sm" type="none"/>
                      <a:tailEnd len="sm" w="sm" type="none"/>
                    </a:lnR>
                    <a:lnT cap="flat" cmpd="sng" w="5450">
                      <a:solidFill>
                        <a:srgbClr val="C4C7C5"/>
                      </a:solidFill>
                      <a:prstDash val="solid"/>
                      <a:round/>
                      <a:headEnd len="sm" w="sm" type="none"/>
                      <a:tailEnd len="sm" w="sm" type="none"/>
                    </a:lnT>
                    <a:lnB cap="flat" cmpd="sng" w="5450">
                      <a:solidFill>
                        <a:srgbClr val="C4C7C5"/>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 sz="1100">
                          <a:solidFill>
                            <a:srgbClr val="1F1F1F"/>
                          </a:solidFill>
                        </a:rPr>
                        <a:t>Locked 60 FPS (16.6ms) in corridors; courtyard stabilized at 54–56 FPS (58–62 FPS avg) via shadow culling + ISM batching.</a:t>
                      </a:r>
                      <a:endParaRPr sz="1100">
                        <a:solidFill>
                          <a:srgbClr val="1F1F1F"/>
                        </a:solidFill>
                      </a:endParaRPr>
                    </a:p>
                  </a:txBody>
                  <a:tcPr marT="76200" marB="76200" marR="114300" marL="114300">
                    <a:lnL cap="flat" cmpd="sng" w="5450">
                      <a:solidFill>
                        <a:srgbClr val="C4C7C5"/>
                      </a:solidFill>
                      <a:prstDash val="solid"/>
                      <a:round/>
                      <a:headEnd len="sm" w="sm" type="none"/>
                      <a:tailEnd len="sm" w="sm" type="none"/>
                    </a:lnL>
                    <a:lnR cap="flat" cmpd="sng" w="5450">
                      <a:solidFill>
                        <a:srgbClr val="C4C7C5"/>
                      </a:solidFill>
                      <a:prstDash val="solid"/>
                      <a:round/>
                      <a:headEnd len="sm" w="sm" type="none"/>
                      <a:tailEnd len="sm" w="sm" type="none"/>
                    </a:lnR>
                    <a:lnT cap="flat" cmpd="sng" w="5450">
                      <a:solidFill>
                        <a:srgbClr val="C4C7C5"/>
                      </a:solidFill>
                      <a:prstDash val="solid"/>
                      <a:round/>
                      <a:headEnd len="sm" w="sm" type="none"/>
                      <a:tailEnd len="sm" w="sm" type="none"/>
                    </a:lnT>
                    <a:lnB cap="flat" cmpd="sng" w="5450">
                      <a:solidFill>
                        <a:srgbClr val="C4C7C5"/>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b="1" lang="en" sz="1100">
                          <a:solidFill>
                            <a:srgbClr val="1F1F1F"/>
                          </a:solidFill>
                        </a:rPr>
                        <a:t>Validated</a:t>
                      </a:r>
                      <a:endParaRPr b="1" sz="1100">
                        <a:solidFill>
                          <a:srgbClr val="1F1F1F"/>
                        </a:solidFill>
                      </a:endParaRPr>
                    </a:p>
                  </a:txBody>
                  <a:tcPr marT="76200" marB="76200" marR="114300" marL="114300">
                    <a:lnL cap="flat" cmpd="sng" w="5450">
                      <a:solidFill>
                        <a:srgbClr val="C4C7C5"/>
                      </a:solidFill>
                      <a:prstDash val="solid"/>
                      <a:round/>
                      <a:headEnd len="sm" w="sm" type="none"/>
                      <a:tailEnd len="sm" w="sm" type="none"/>
                    </a:lnL>
                    <a:lnR cap="flat" cmpd="sng" w="5450">
                      <a:solidFill>
                        <a:srgbClr val="C4C7C5"/>
                      </a:solidFill>
                      <a:prstDash val="solid"/>
                      <a:round/>
                      <a:headEnd len="sm" w="sm" type="none"/>
                      <a:tailEnd len="sm" w="sm" type="none"/>
                    </a:lnR>
                    <a:lnT cap="flat" cmpd="sng" w="5450">
                      <a:solidFill>
                        <a:srgbClr val="C4C7C5"/>
                      </a:solidFill>
                      <a:prstDash val="solid"/>
                      <a:round/>
                      <a:headEnd len="sm" w="sm" type="none"/>
                      <a:tailEnd len="sm" w="sm" type="none"/>
                    </a:lnT>
                    <a:lnB cap="flat" cmpd="sng" w="5450">
                      <a:solidFill>
                        <a:srgbClr val="C4C7C5"/>
                      </a:solidFill>
                      <a:prstDash val="solid"/>
                      <a:round/>
                      <a:headEnd len="sm" w="sm" type="none"/>
                      <a:tailEnd len="sm" w="sm" type="none"/>
                    </a:lnB>
                  </a:tcPr>
                </a:tc>
              </a:tr>
              <a:tr h="514350">
                <a:tc>
                  <a:txBody>
                    <a:bodyPr/>
                    <a:lstStyle/>
                    <a:p>
                      <a:pPr indent="0" lvl="0" marL="0" rtl="0" algn="l">
                        <a:lnSpc>
                          <a:spcPct val="115000"/>
                        </a:lnSpc>
                        <a:spcBef>
                          <a:spcPts val="0"/>
                        </a:spcBef>
                        <a:spcAft>
                          <a:spcPts val="0"/>
                        </a:spcAft>
                        <a:buNone/>
                      </a:pPr>
                      <a:r>
                        <a:rPr b="1" lang="en" sz="1100">
                          <a:solidFill>
                            <a:srgbClr val="1F1F1F"/>
                          </a:solidFill>
                        </a:rPr>
                        <a:t>Migrate to UE 5.8</a:t>
                      </a:r>
                      <a:endParaRPr b="1" sz="1100">
                        <a:solidFill>
                          <a:srgbClr val="1F1F1F"/>
                        </a:solidFill>
                      </a:endParaRPr>
                    </a:p>
                  </a:txBody>
                  <a:tcPr marT="76200" marB="76200" marR="114300" marL="114300">
                    <a:lnL cap="flat" cmpd="sng" w="5450">
                      <a:solidFill>
                        <a:srgbClr val="C4C7C5"/>
                      </a:solidFill>
                      <a:prstDash val="solid"/>
                      <a:round/>
                      <a:headEnd len="sm" w="sm" type="none"/>
                      <a:tailEnd len="sm" w="sm" type="none"/>
                    </a:lnL>
                    <a:lnR cap="flat" cmpd="sng" w="5450">
                      <a:solidFill>
                        <a:srgbClr val="C4C7C5"/>
                      </a:solidFill>
                      <a:prstDash val="solid"/>
                      <a:round/>
                      <a:headEnd len="sm" w="sm" type="none"/>
                      <a:tailEnd len="sm" w="sm" type="none"/>
                    </a:lnR>
                    <a:lnT cap="flat" cmpd="sng" w="5450">
                      <a:solidFill>
                        <a:srgbClr val="C4C7C5"/>
                      </a:solidFill>
                      <a:prstDash val="solid"/>
                      <a:round/>
                      <a:headEnd len="sm" w="sm" type="none"/>
                      <a:tailEnd len="sm" w="sm" type="none"/>
                    </a:lnT>
                    <a:lnB cap="flat" cmpd="sng" w="5450">
                      <a:solidFill>
                        <a:srgbClr val="C4C7C5"/>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b="1" lang="en" sz="1100">
                          <a:solidFill>
                            <a:srgbClr val="1F1F1F"/>
                          </a:solidFill>
                        </a:rPr>
                        <a:t>Could</a:t>
                      </a:r>
                      <a:r>
                        <a:rPr lang="en" sz="1100">
                          <a:solidFill>
                            <a:srgbClr val="1F1F1F"/>
                          </a:solidFill>
                        </a:rPr>
                        <a:t> | R:Low</a:t>
                      </a:r>
                      <a:endParaRPr sz="1100">
                        <a:solidFill>
                          <a:srgbClr val="1F1F1F"/>
                        </a:solidFill>
                      </a:endParaRPr>
                    </a:p>
                  </a:txBody>
                  <a:tcPr marT="76200" marB="76200" marR="114300" marL="114300">
                    <a:lnL cap="flat" cmpd="sng" w="5450">
                      <a:solidFill>
                        <a:srgbClr val="C4C7C5"/>
                      </a:solidFill>
                      <a:prstDash val="solid"/>
                      <a:round/>
                      <a:headEnd len="sm" w="sm" type="none"/>
                      <a:tailEnd len="sm" w="sm" type="none"/>
                    </a:lnL>
                    <a:lnR cap="flat" cmpd="sng" w="5450">
                      <a:solidFill>
                        <a:srgbClr val="C4C7C5"/>
                      </a:solidFill>
                      <a:prstDash val="solid"/>
                      <a:round/>
                      <a:headEnd len="sm" w="sm" type="none"/>
                      <a:tailEnd len="sm" w="sm" type="none"/>
                    </a:lnR>
                    <a:lnT cap="flat" cmpd="sng" w="5450">
                      <a:solidFill>
                        <a:srgbClr val="C4C7C5"/>
                      </a:solidFill>
                      <a:prstDash val="solid"/>
                      <a:round/>
                      <a:headEnd len="sm" w="sm" type="none"/>
                      <a:tailEnd len="sm" w="sm" type="none"/>
                    </a:lnT>
                    <a:lnB cap="flat" cmpd="sng" w="5450">
                      <a:solidFill>
                        <a:srgbClr val="C4C7C5"/>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 sz="1100">
                          <a:solidFill>
                            <a:srgbClr val="1F1F1F"/>
                          </a:solidFill>
                        </a:rPr>
                        <a:t>Upgraded to UE 5.8.1 for production-ready MegaLights, unified direct lighting passes, and Ray Tracing Proxies.</a:t>
                      </a:r>
                      <a:endParaRPr sz="1100">
                        <a:solidFill>
                          <a:srgbClr val="1F1F1F"/>
                        </a:solidFill>
                      </a:endParaRPr>
                    </a:p>
                  </a:txBody>
                  <a:tcPr marT="76200" marB="76200" marR="114300" marL="114300">
                    <a:lnL cap="flat" cmpd="sng" w="5450">
                      <a:solidFill>
                        <a:srgbClr val="C4C7C5"/>
                      </a:solidFill>
                      <a:prstDash val="solid"/>
                      <a:round/>
                      <a:headEnd len="sm" w="sm" type="none"/>
                      <a:tailEnd len="sm" w="sm" type="none"/>
                    </a:lnL>
                    <a:lnR cap="flat" cmpd="sng" w="5450">
                      <a:solidFill>
                        <a:srgbClr val="C4C7C5"/>
                      </a:solidFill>
                      <a:prstDash val="solid"/>
                      <a:round/>
                      <a:headEnd len="sm" w="sm" type="none"/>
                      <a:tailEnd len="sm" w="sm" type="none"/>
                    </a:lnR>
                    <a:lnT cap="flat" cmpd="sng" w="5450">
                      <a:solidFill>
                        <a:srgbClr val="C4C7C5"/>
                      </a:solidFill>
                      <a:prstDash val="solid"/>
                      <a:round/>
                      <a:headEnd len="sm" w="sm" type="none"/>
                      <a:tailEnd len="sm" w="sm" type="none"/>
                    </a:lnT>
                    <a:lnB cap="flat" cmpd="sng" w="5450">
                      <a:solidFill>
                        <a:srgbClr val="C4C7C5"/>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b="1" lang="en" sz="1100">
                          <a:solidFill>
                            <a:srgbClr val="1F1F1F"/>
                          </a:solidFill>
                        </a:rPr>
                        <a:t>Complete</a:t>
                      </a:r>
                      <a:endParaRPr b="1" sz="1100">
                        <a:solidFill>
                          <a:srgbClr val="1F1F1F"/>
                        </a:solidFill>
                      </a:endParaRPr>
                    </a:p>
                  </a:txBody>
                  <a:tcPr marT="76200" marB="76200" marR="114300" marL="114300">
                    <a:lnL cap="flat" cmpd="sng" w="5450">
                      <a:solidFill>
                        <a:srgbClr val="C4C7C5"/>
                      </a:solidFill>
                      <a:prstDash val="solid"/>
                      <a:round/>
                      <a:headEnd len="sm" w="sm" type="none"/>
                      <a:tailEnd len="sm" w="sm" type="none"/>
                    </a:lnL>
                    <a:lnR cap="flat" cmpd="sng" w="5450">
                      <a:solidFill>
                        <a:srgbClr val="C4C7C5"/>
                      </a:solidFill>
                      <a:prstDash val="solid"/>
                      <a:round/>
                      <a:headEnd len="sm" w="sm" type="none"/>
                      <a:tailEnd len="sm" w="sm" type="none"/>
                    </a:lnR>
                    <a:lnT cap="flat" cmpd="sng" w="5450">
                      <a:solidFill>
                        <a:srgbClr val="C4C7C5"/>
                      </a:solidFill>
                      <a:prstDash val="solid"/>
                      <a:round/>
                      <a:headEnd len="sm" w="sm" type="none"/>
                      <a:tailEnd len="sm" w="sm" type="none"/>
                    </a:lnT>
                    <a:lnB cap="flat" cmpd="sng" w="5450">
                      <a:solidFill>
                        <a:srgbClr val="C4C7C5"/>
                      </a:solidFill>
                      <a:prstDash val="solid"/>
                      <a:round/>
                      <a:headEnd len="sm" w="sm" type="none"/>
                      <a:tailEnd len="sm" w="sm" type="none"/>
                    </a:lnB>
                  </a:tcPr>
                </a:tc>
              </a:tr>
              <a:tr h="581025">
                <a:tc>
                  <a:txBody>
                    <a:bodyPr/>
                    <a:lstStyle/>
                    <a:p>
                      <a:pPr indent="0" lvl="0" marL="0" rtl="0" algn="l">
                        <a:lnSpc>
                          <a:spcPct val="115000"/>
                        </a:lnSpc>
                        <a:spcBef>
                          <a:spcPts val="0"/>
                        </a:spcBef>
                        <a:spcAft>
                          <a:spcPts val="0"/>
                        </a:spcAft>
                        <a:buNone/>
                      </a:pPr>
                      <a:r>
                        <a:rPr b="1" lang="en" sz="1100">
                          <a:solidFill>
                            <a:srgbClr val="1F1F1F"/>
                          </a:solidFill>
                        </a:rPr>
                        <a:t>Configure Lumen Lite</a:t>
                      </a:r>
                      <a:endParaRPr b="1" sz="1100">
                        <a:solidFill>
                          <a:srgbClr val="1F1F1F"/>
                        </a:solidFill>
                      </a:endParaRPr>
                    </a:p>
                  </a:txBody>
                  <a:tcPr marT="76200" marB="76200" marR="114300" marL="114300">
                    <a:lnL cap="flat" cmpd="sng" w="5450">
                      <a:solidFill>
                        <a:srgbClr val="C4C7C5"/>
                      </a:solidFill>
                      <a:prstDash val="solid"/>
                      <a:round/>
                      <a:headEnd len="sm" w="sm" type="none"/>
                      <a:tailEnd len="sm" w="sm" type="none"/>
                    </a:lnL>
                    <a:lnR cap="flat" cmpd="sng" w="5450">
                      <a:solidFill>
                        <a:srgbClr val="C4C7C5"/>
                      </a:solidFill>
                      <a:prstDash val="solid"/>
                      <a:round/>
                      <a:headEnd len="sm" w="sm" type="none"/>
                      <a:tailEnd len="sm" w="sm" type="none"/>
                    </a:lnR>
                    <a:lnT cap="flat" cmpd="sng" w="5450">
                      <a:solidFill>
                        <a:srgbClr val="C4C7C5"/>
                      </a:solidFill>
                      <a:prstDash val="solid"/>
                      <a:round/>
                      <a:headEnd len="sm" w="sm" type="none"/>
                      <a:tailEnd len="sm" w="sm" type="none"/>
                    </a:lnT>
                    <a:lnB cap="flat" cmpd="sng" w="5450">
                      <a:solidFill>
                        <a:srgbClr val="C4C7C5"/>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b="1" lang="en" sz="1100">
                          <a:solidFill>
                            <a:srgbClr val="1F1F1F"/>
                          </a:solidFill>
                        </a:rPr>
                        <a:t>Should</a:t>
                      </a:r>
                      <a:r>
                        <a:rPr lang="en" sz="1100">
                          <a:solidFill>
                            <a:srgbClr val="1F1F1F"/>
                          </a:solidFill>
                        </a:rPr>
                        <a:t> | R:Med</a:t>
                      </a:r>
                      <a:endParaRPr sz="1100">
                        <a:solidFill>
                          <a:srgbClr val="1F1F1F"/>
                        </a:solidFill>
                      </a:endParaRPr>
                    </a:p>
                  </a:txBody>
                  <a:tcPr marT="76200" marB="76200" marR="114300" marL="114300">
                    <a:lnL cap="flat" cmpd="sng" w="5450">
                      <a:solidFill>
                        <a:srgbClr val="C4C7C5"/>
                      </a:solidFill>
                      <a:prstDash val="solid"/>
                      <a:round/>
                      <a:headEnd len="sm" w="sm" type="none"/>
                      <a:tailEnd len="sm" w="sm" type="none"/>
                    </a:lnL>
                    <a:lnR cap="flat" cmpd="sng" w="5450">
                      <a:solidFill>
                        <a:srgbClr val="C4C7C5"/>
                      </a:solidFill>
                      <a:prstDash val="solid"/>
                      <a:round/>
                      <a:headEnd len="sm" w="sm" type="none"/>
                      <a:tailEnd len="sm" w="sm" type="none"/>
                    </a:lnR>
                    <a:lnT cap="flat" cmpd="sng" w="5450">
                      <a:solidFill>
                        <a:srgbClr val="C4C7C5"/>
                      </a:solidFill>
                      <a:prstDash val="solid"/>
                      <a:round/>
                      <a:headEnd len="sm" w="sm" type="none"/>
                      <a:tailEnd len="sm" w="sm" type="none"/>
                    </a:lnT>
                    <a:lnB cap="flat" cmpd="sng" w="5450">
                      <a:solidFill>
                        <a:srgbClr val="C4C7C5"/>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 sz="1100">
                          <a:solidFill>
                            <a:srgbClr val="1F1F1F"/>
                          </a:solidFill>
                        </a:rPr>
                        <a:t>Applied </a:t>
                      </a:r>
                      <a:r>
                        <a:rPr lang="en" sz="1150">
                          <a:solidFill>
                            <a:srgbClr val="188038"/>
                          </a:solidFill>
                          <a:highlight>
                            <a:srgbClr val="F2F0F0"/>
                          </a:highlight>
                        </a:rPr>
                        <a:t>.ini</a:t>
                      </a:r>
                      <a:r>
                        <a:rPr lang="en" sz="1100">
                          <a:solidFill>
                            <a:srgbClr val="1F1F1F"/>
                          </a:solidFill>
                        </a:rPr>
                        <a:t> profile: Final Gather 0.5, Scene Detail 0.2, Max Roughness 0.2, Screen Traces &amp; RT Translucency OFF.</a:t>
                      </a:r>
                      <a:endParaRPr sz="1100">
                        <a:solidFill>
                          <a:srgbClr val="1F1F1F"/>
                        </a:solidFill>
                      </a:endParaRPr>
                    </a:p>
                  </a:txBody>
                  <a:tcPr marT="76200" marB="76200" marR="114300" marL="114300">
                    <a:lnL cap="flat" cmpd="sng" w="5450">
                      <a:solidFill>
                        <a:srgbClr val="C4C7C5"/>
                      </a:solidFill>
                      <a:prstDash val="solid"/>
                      <a:round/>
                      <a:headEnd len="sm" w="sm" type="none"/>
                      <a:tailEnd len="sm" w="sm" type="none"/>
                    </a:lnL>
                    <a:lnR cap="flat" cmpd="sng" w="5450">
                      <a:solidFill>
                        <a:srgbClr val="C4C7C5"/>
                      </a:solidFill>
                      <a:prstDash val="solid"/>
                      <a:round/>
                      <a:headEnd len="sm" w="sm" type="none"/>
                      <a:tailEnd len="sm" w="sm" type="none"/>
                    </a:lnR>
                    <a:lnT cap="flat" cmpd="sng" w="5450">
                      <a:solidFill>
                        <a:srgbClr val="C4C7C5"/>
                      </a:solidFill>
                      <a:prstDash val="solid"/>
                      <a:round/>
                      <a:headEnd len="sm" w="sm" type="none"/>
                      <a:tailEnd len="sm" w="sm" type="none"/>
                    </a:lnT>
                    <a:lnB cap="flat" cmpd="sng" w="5450">
                      <a:solidFill>
                        <a:srgbClr val="C4C7C5"/>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b="1" lang="en" sz="1100">
                          <a:solidFill>
                            <a:srgbClr val="1F1F1F"/>
                          </a:solidFill>
                        </a:rPr>
                        <a:t>Complete</a:t>
                      </a:r>
                      <a:endParaRPr b="1" sz="1100">
                        <a:solidFill>
                          <a:srgbClr val="1F1F1F"/>
                        </a:solidFill>
                      </a:endParaRPr>
                    </a:p>
                  </a:txBody>
                  <a:tcPr marT="76200" marB="76200" marR="114300" marL="114300">
                    <a:lnL cap="flat" cmpd="sng" w="5450">
                      <a:solidFill>
                        <a:srgbClr val="C4C7C5"/>
                      </a:solidFill>
                      <a:prstDash val="solid"/>
                      <a:round/>
                      <a:headEnd len="sm" w="sm" type="none"/>
                      <a:tailEnd len="sm" w="sm" type="none"/>
                    </a:lnL>
                    <a:lnR cap="flat" cmpd="sng" w="5450">
                      <a:solidFill>
                        <a:srgbClr val="C4C7C5"/>
                      </a:solidFill>
                      <a:prstDash val="solid"/>
                      <a:round/>
                      <a:headEnd len="sm" w="sm" type="none"/>
                      <a:tailEnd len="sm" w="sm" type="none"/>
                    </a:lnR>
                    <a:lnT cap="flat" cmpd="sng" w="5450">
                      <a:solidFill>
                        <a:srgbClr val="C4C7C5"/>
                      </a:solidFill>
                      <a:prstDash val="solid"/>
                      <a:round/>
                      <a:headEnd len="sm" w="sm" type="none"/>
                      <a:tailEnd len="sm" w="sm" type="none"/>
                    </a:lnT>
                    <a:lnB cap="flat" cmpd="sng" w="5450">
                      <a:solidFill>
                        <a:srgbClr val="C4C7C5"/>
                      </a:solidFill>
                      <a:prstDash val="solid"/>
                      <a:round/>
                      <a:headEnd len="sm" w="sm" type="none"/>
                      <a:tailEnd len="sm" w="sm" type="none"/>
                    </a:lnB>
                  </a:tcPr>
                </a:tc>
              </a:tr>
              <a:tr h="514350">
                <a:tc>
                  <a:txBody>
                    <a:bodyPr/>
                    <a:lstStyle/>
                    <a:p>
                      <a:pPr indent="0" lvl="0" marL="0" rtl="0" algn="l">
                        <a:lnSpc>
                          <a:spcPct val="115000"/>
                        </a:lnSpc>
                        <a:spcBef>
                          <a:spcPts val="0"/>
                        </a:spcBef>
                        <a:spcAft>
                          <a:spcPts val="0"/>
                        </a:spcAft>
                        <a:buNone/>
                      </a:pPr>
                      <a:r>
                        <a:rPr b="1" lang="en" sz="1100">
                          <a:solidFill>
                            <a:srgbClr val="1F1F1F"/>
                          </a:solidFill>
                        </a:rPr>
                        <a:t>Dynamic Shadow Culling</a:t>
                      </a:r>
                      <a:endParaRPr b="1" sz="1100">
                        <a:solidFill>
                          <a:srgbClr val="1F1F1F"/>
                        </a:solidFill>
                      </a:endParaRPr>
                    </a:p>
                  </a:txBody>
                  <a:tcPr marT="76200" marB="76200" marR="114300" marL="114300">
                    <a:lnL cap="flat" cmpd="sng" w="5450">
                      <a:solidFill>
                        <a:srgbClr val="C4C7C5"/>
                      </a:solidFill>
                      <a:prstDash val="solid"/>
                      <a:round/>
                      <a:headEnd len="sm" w="sm" type="none"/>
                      <a:tailEnd len="sm" w="sm" type="none"/>
                    </a:lnL>
                    <a:lnR cap="flat" cmpd="sng" w="5450">
                      <a:solidFill>
                        <a:srgbClr val="C4C7C5"/>
                      </a:solidFill>
                      <a:prstDash val="solid"/>
                      <a:round/>
                      <a:headEnd len="sm" w="sm" type="none"/>
                      <a:tailEnd len="sm" w="sm" type="none"/>
                    </a:lnR>
                    <a:lnT cap="flat" cmpd="sng" w="5450">
                      <a:solidFill>
                        <a:srgbClr val="C4C7C5"/>
                      </a:solidFill>
                      <a:prstDash val="solid"/>
                      <a:round/>
                      <a:headEnd len="sm" w="sm" type="none"/>
                      <a:tailEnd len="sm" w="sm" type="none"/>
                    </a:lnT>
                    <a:lnB cap="flat" cmpd="sng" w="5450">
                      <a:solidFill>
                        <a:srgbClr val="C4C7C5"/>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b="1" lang="en" sz="1100">
                          <a:solidFill>
                            <a:srgbClr val="1F1F1F"/>
                          </a:solidFill>
                        </a:rPr>
                        <a:t>Should</a:t>
                      </a:r>
                      <a:r>
                        <a:rPr lang="en" sz="1100">
                          <a:solidFill>
                            <a:srgbClr val="1F1F1F"/>
                          </a:solidFill>
                        </a:rPr>
                        <a:t> | R:Med</a:t>
                      </a:r>
                      <a:endParaRPr sz="1100">
                        <a:solidFill>
                          <a:srgbClr val="1F1F1F"/>
                        </a:solidFill>
                      </a:endParaRPr>
                    </a:p>
                  </a:txBody>
                  <a:tcPr marT="76200" marB="76200" marR="114300" marL="114300">
                    <a:lnL cap="flat" cmpd="sng" w="5450">
                      <a:solidFill>
                        <a:srgbClr val="C4C7C5"/>
                      </a:solidFill>
                      <a:prstDash val="solid"/>
                      <a:round/>
                      <a:headEnd len="sm" w="sm" type="none"/>
                      <a:tailEnd len="sm" w="sm" type="none"/>
                    </a:lnL>
                    <a:lnR cap="flat" cmpd="sng" w="5450">
                      <a:solidFill>
                        <a:srgbClr val="C4C7C5"/>
                      </a:solidFill>
                      <a:prstDash val="solid"/>
                      <a:round/>
                      <a:headEnd len="sm" w="sm" type="none"/>
                      <a:tailEnd len="sm" w="sm" type="none"/>
                    </a:lnR>
                    <a:lnT cap="flat" cmpd="sng" w="5450">
                      <a:solidFill>
                        <a:srgbClr val="C4C7C5"/>
                      </a:solidFill>
                      <a:prstDash val="solid"/>
                      <a:round/>
                      <a:headEnd len="sm" w="sm" type="none"/>
                      <a:tailEnd len="sm" w="sm" type="none"/>
                    </a:lnT>
                    <a:lnB cap="flat" cmpd="sng" w="5450">
                      <a:solidFill>
                        <a:srgbClr val="C4C7C5"/>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 sz="1100">
                          <a:solidFill>
                            <a:srgbClr val="1F1F1F"/>
                          </a:solidFill>
                        </a:rPr>
                        <a:t>Clamped master light Blueprints to 20m max shadow distance (5m fade) and 4.5m light function cutoff.</a:t>
                      </a:r>
                      <a:endParaRPr sz="1100">
                        <a:solidFill>
                          <a:srgbClr val="1F1F1F"/>
                        </a:solidFill>
                      </a:endParaRPr>
                    </a:p>
                  </a:txBody>
                  <a:tcPr marT="76200" marB="76200" marR="114300" marL="114300">
                    <a:lnL cap="flat" cmpd="sng" w="5450">
                      <a:solidFill>
                        <a:srgbClr val="C4C7C5"/>
                      </a:solidFill>
                      <a:prstDash val="solid"/>
                      <a:round/>
                      <a:headEnd len="sm" w="sm" type="none"/>
                      <a:tailEnd len="sm" w="sm" type="none"/>
                    </a:lnL>
                    <a:lnR cap="flat" cmpd="sng" w="5450">
                      <a:solidFill>
                        <a:srgbClr val="C4C7C5"/>
                      </a:solidFill>
                      <a:prstDash val="solid"/>
                      <a:round/>
                      <a:headEnd len="sm" w="sm" type="none"/>
                      <a:tailEnd len="sm" w="sm" type="none"/>
                    </a:lnR>
                    <a:lnT cap="flat" cmpd="sng" w="5450">
                      <a:solidFill>
                        <a:srgbClr val="C4C7C5"/>
                      </a:solidFill>
                      <a:prstDash val="solid"/>
                      <a:round/>
                      <a:headEnd len="sm" w="sm" type="none"/>
                      <a:tailEnd len="sm" w="sm" type="none"/>
                    </a:lnT>
                    <a:lnB cap="flat" cmpd="sng" w="5450">
                      <a:solidFill>
                        <a:srgbClr val="C4C7C5"/>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b="1" lang="en" sz="1100">
                          <a:solidFill>
                            <a:srgbClr val="1F1F1F"/>
                          </a:solidFill>
                        </a:rPr>
                        <a:t>Complete</a:t>
                      </a:r>
                      <a:endParaRPr b="1" sz="1100">
                        <a:solidFill>
                          <a:srgbClr val="1F1F1F"/>
                        </a:solidFill>
                      </a:endParaRPr>
                    </a:p>
                  </a:txBody>
                  <a:tcPr marT="76200" marB="76200" marR="114300" marL="114300">
                    <a:lnL cap="flat" cmpd="sng" w="5450">
                      <a:solidFill>
                        <a:srgbClr val="C4C7C5"/>
                      </a:solidFill>
                      <a:prstDash val="solid"/>
                      <a:round/>
                      <a:headEnd len="sm" w="sm" type="none"/>
                      <a:tailEnd len="sm" w="sm" type="none"/>
                    </a:lnL>
                    <a:lnR cap="flat" cmpd="sng" w="5450">
                      <a:solidFill>
                        <a:srgbClr val="C4C7C5"/>
                      </a:solidFill>
                      <a:prstDash val="solid"/>
                      <a:round/>
                      <a:headEnd len="sm" w="sm" type="none"/>
                      <a:tailEnd len="sm" w="sm" type="none"/>
                    </a:lnR>
                    <a:lnT cap="flat" cmpd="sng" w="5450">
                      <a:solidFill>
                        <a:srgbClr val="C4C7C5"/>
                      </a:solidFill>
                      <a:prstDash val="solid"/>
                      <a:round/>
                      <a:headEnd len="sm" w="sm" type="none"/>
                      <a:tailEnd len="sm" w="sm" type="none"/>
                    </a:lnT>
                    <a:lnB cap="flat" cmpd="sng" w="5450">
                      <a:solidFill>
                        <a:srgbClr val="C4C7C5"/>
                      </a:solidFill>
                      <a:prstDash val="solid"/>
                      <a:round/>
                      <a:headEnd len="sm" w="sm" type="none"/>
                      <a:tailEnd len="sm" w="sm" type="none"/>
                    </a:lnB>
                  </a:tcPr>
                </a:tc>
              </a:tr>
            </a:tbl>
          </a:graphicData>
        </a:graphic>
      </p:graphicFrame>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9" name="Shape 129"/>
        <p:cNvGrpSpPr/>
        <p:nvPr/>
      </p:nvGrpSpPr>
      <p:grpSpPr>
        <a:xfrm>
          <a:off x="0" y="0"/>
          <a:ext cx="0" cy="0"/>
          <a:chOff x="0" y="0"/>
          <a:chExt cx="0" cy="0"/>
        </a:xfrm>
      </p:grpSpPr>
      <p:sp>
        <p:nvSpPr>
          <p:cNvPr id="130" name="Google Shape;130;p25"/>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Issues with</a:t>
            </a:r>
            <a:r>
              <a:rPr lang="en"/>
              <a:t> LOF1</a:t>
            </a:r>
            <a:endParaRPr/>
          </a:p>
        </p:txBody>
      </p:sp>
      <p:sp>
        <p:nvSpPr>
          <p:cNvPr id="131" name="Google Shape;131;p25"/>
          <p:cNvSpPr txBox="1"/>
          <p:nvPr>
            <p:ph idx="1" type="body"/>
          </p:nvPr>
        </p:nvSpPr>
        <p:spPr>
          <a:xfrm>
            <a:off x="311700" y="1152475"/>
            <a:ext cx="8520600" cy="3416400"/>
          </a:xfrm>
          <a:prstGeom prst="rect">
            <a:avLst/>
          </a:prstGeom>
        </p:spPr>
        <p:txBody>
          <a:bodyPr anchorCtr="0" anchor="t" bIns="91425" lIns="91425" spcFirstLastPara="1" rIns="91425" wrap="square" tIns="91425">
            <a:normAutofit lnSpcReduction="10000"/>
          </a:bodyPr>
          <a:lstStyle/>
          <a:p>
            <a:pPr indent="0" lvl="0" marL="0" rtl="0" algn="l">
              <a:spcBef>
                <a:spcPts val="0"/>
              </a:spcBef>
              <a:spcAft>
                <a:spcPts val="0"/>
              </a:spcAft>
              <a:buClr>
                <a:schemeClr val="dk1"/>
              </a:buClr>
              <a:buSzPts val="1100"/>
              <a:buFont typeface="Arial"/>
              <a:buNone/>
            </a:pPr>
            <a:r>
              <a:rPr b="1" lang="en" sz="1100">
                <a:solidFill>
                  <a:schemeClr val="dk1"/>
                </a:solidFill>
              </a:rPr>
              <a:t>Visual &amp; Lighting Issues</a:t>
            </a:r>
            <a:endParaRPr b="1" sz="1100">
              <a:solidFill>
                <a:schemeClr val="dk1"/>
              </a:solidFill>
            </a:endParaRPr>
          </a:p>
          <a:p>
            <a:pPr indent="-298450" lvl="0" marL="457200" rtl="0" algn="l">
              <a:spcBef>
                <a:spcPts val="1200"/>
              </a:spcBef>
              <a:spcAft>
                <a:spcPts val="0"/>
              </a:spcAft>
              <a:buClr>
                <a:schemeClr val="dk1"/>
              </a:buClr>
              <a:buSzPts val="1100"/>
              <a:buChar char="●"/>
            </a:pPr>
            <a:r>
              <a:rPr b="1" lang="en" sz="1100">
                <a:solidFill>
                  <a:schemeClr val="dk1"/>
                </a:solidFill>
              </a:rPr>
              <a:t>Shadow Pop-In:</a:t>
            </a:r>
            <a:r>
              <a:rPr lang="en" sz="1100">
                <a:solidFill>
                  <a:schemeClr val="dk1"/>
                </a:solidFill>
              </a:rPr>
              <a:t> Aggressive distance culling causes visible shadow popping in the courtyard.</a:t>
            </a:r>
            <a:endParaRPr sz="1100">
              <a:solidFill>
                <a:schemeClr val="dk1"/>
              </a:solidFill>
            </a:endParaRPr>
          </a:p>
          <a:p>
            <a:pPr indent="-298450" lvl="0" marL="457200" rtl="0" algn="l">
              <a:spcBef>
                <a:spcPts val="0"/>
              </a:spcBef>
              <a:spcAft>
                <a:spcPts val="0"/>
              </a:spcAft>
              <a:buClr>
                <a:schemeClr val="dk1"/>
              </a:buClr>
              <a:buSzPts val="1100"/>
              <a:buChar char="●"/>
            </a:pPr>
            <a:r>
              <a:rPr b="1" lang="en" sz="1100">
                <a:solidFill>
                  <a:schemeClr val="dk1"/>
                </a:solidFill>
              </a:rPr>
              <a:t>Very Noisy at times:</a:t>
            </a:r>
            <a:r>
              <a:rPr lang="en" sz="1100">
                <a:solidFill>
                  <a:schemeClr val="dk1"/>
                </a:solidFill>
              </a:rPr>
              <a:t> Multiple dynamic lights on the wet cobblestones created an ugly shimmering effect.</a:t>
            </a:r>
            <a:endParaRPr sz="1100">
              <a:solidFill>
                <a:schemeClr val="dk1"/>
              </a:solidFill>
            </a:endParaRPr>
          </a:p>
          <a:p>
            <a:pPr indent="0" lvl="0" marL="0" rtl="0" algn="l">
              <a:spcBef>
                <a:spcPts val="1200"/>
              </a:spcBef>
              <a:spcAft>
                <a:spcPts val="0"/>
              </a:spcAft>
              <a:buClr>
                <a:schemeClr val="dk1"/>
              </a:buClr>
              <a:buSzPts val="1100"/>
              <a:buFont typeface="Arial"/>
              <a:buNone/>
            </a:pPr>
            <a:r>
              <a:rPr b="1" lang="en" sz="1100">
                <a:solidFill>
                  <a:schemeClr val="dk1"/>
                </a:solidFill>
              </a:rPr>
              <a:t>Performance &amp; Memory Bottlenecks</a:t>
            </a:r>
            <a:endParaRPr b="1" sz="1100">
              <a:solidFill>
                <a:schemeClr val="dk1"/>
              </a:solidFill>
            </a:endParaRPr>
          </a:p>
          <a:p>
            <a:pPr indent="-298450" lvl="0" marL="457200" rtl="0" algn="l">
              <a:spcBef>
                <a:spcPts val="1200"/>
              </a:spcBef>
              <a:spcAft>
                <a:spcPts val="0"/>
              </a:spcAft>
              <a:buClr>
                <a:schemeClr val="dk1"/>
              </a:buClr>
              <a:buSzPts val="1100"/>
              <a:buChar char="●"/>
            </a:pPr>
            <a:r>
              <a:rPr b="1" lang="en" sz="1100">
                <a:solidFill>
                  <a:schemeClr val="dk1"/>
                </a:solidFill>
              </a:rPr>
              <a:t>Courtyard Light Overlap:</a:t>
            </a:r>
            <a:r>
              <a:rPr lang="en" sz="1100">
                <a:solidFill>
                  <a:schemeClr val="dk1"/>
                </a:solidFill>
              </a:rPr>
              <a:t> 30+ overlapping light cones used to drop open-area frame rates to sub 50 frames (Semi fixed now)</a:t>
            </a:r>
            <a:endParaRPr sz="1100">
              <a:solidFill>
                <a:schemeClr val="dk1"/>
              </a:solidFill>
            </a:endParaRPr>
          </a:p>
          <a:p>
            <a:pPr indent="-298450" lvl="0" marL="457200" rtl="0" algn="l">
              <a:spcBef>
                <a:spcPts val="0"/>
              </a:spcBef>
              <a:spcAft>
                <a:spcPts val="0"/>
              </a:spcAft>
              <a:buClr>
                <a:schemeClr val="dk1"/>
              </a:buClr>
              <a:buSzPts val="1100"/>
              <a:buChar char="●"/>
            </a:pPr>
            <a:r>
              <a:rPr b="1" lang="en" sz="1100">
                <a:solidFill>
                  <a:schemeClr val="dk1"/>
                </a:solidFill>
              </a:rPr>
              <a:t>RT Memory Thrashing:</a:t>
            </a:r>
            <a:r>
              <a:rPr lang="en" sz="1100">
                <a:solidFill>
                  <a:schemeClr val="dk1"/>
                </a:solidFill>
              </a:rPr>
              <a:t> The default </a:t>
            </a:r>
            <a:r>
              <a:rPr lang="en" sz="1100">
                <a:solidFill>
                  <a:schemeClr val="dk1"/>
                </a:solidFill>
              </a:rPr>
              <a:t>406</a:t>
            </a:r>
            <a:r>
              <a:rPr lang="en" sz="1100">
                <a:solidFill>
                  <a:schemeClr val="dk1"/>
                </a:solidFill>
              </a:rPr>
              <a:t>M</a:t>
            </a:r>
            <a:r>
              <a:rPr lang="en" sz="1100">
                <a:solidFill>
                  <a:schemeClr val="dk1"/>
                </a:solidFill>
              </a:rPr>
              <a:t>B</a:t>
            </a:r>
            <a:r>
              <a:rPr lang="en" sz="1100">
                <a:solidFill>
                  <a:schemeClr val="dk1"/>
                </a:solidFill>
              </a:rPr>
              <a:t> pool triggered DX12 BVH rebuild stalls and frame degradation (Fixed).</a:t>
            </a:r>
            <a:endParaRPr sz="1100">
              <a:solidFill>
                <a:schemeClr val="dk1"/>
              </a:solidFill>
            </a:endParaRPr>
          </a:p>
          <a:p>
            <a:pPr indent="-298450" lvl="0" marL="457200" rtl="0" algn="l">
              <a:spcBef>
                <a:spcPts val="0"/>
              </a:spcBef>
              <a:spcAft>
                <a:spcPts val="0"/>
              </a:spcAft>
              <a:buClr>
                <a:schemeClr val="dk1"/>
              </a:buClr>
              <a:buSzPts val="1100"/>
              <a:buChar char="●"/>
            </a:pPr>
            <a:r>
              <a:rPr b="1" lang="en" sz="1100">
                <a:solidFill>
                  <a:schemeClr val="dk1"/>
                </a:solidFill>
              </a:rPr>
              <a:t>Garbage Collection Spikes:</a:t>
            </a:r>
            <a:r>
              <a:rPr lang="en" sz="1100">
                <a:solidFill>
                  <a:schemeClr val="dk1"/>
                </a:solidFill>
              </a:rPr>
              <a:t> Engine GC sweeps cause intermittent 16.4CPU hitches (Still above locked 60 most of the time).</a:t>
            </a:r>
            <a:endParaRPr sz="1100">
              <a:solidFill>
                <a:schemeClr val="dk1"/>
              </a:solidFill>
            </a:endParaRPr>
          </a:p>
          <a:p>
            <a:pPr indent="0" lvl="0" marL="0" rtl="0" algn="l">
              <a:spcBef>
                <a:spcPts val="1200"/>
              </a:spcBef>
              <a:spcAft>
                <a:spcPts val="0"/>
              </a:spcAft>
              <a:buClr>
                <a:schemeClr val="dk1"/>
              </a:buClr>
              <a:buSzPts val="1100"/>
              <a:buFont typeface="Arial"/>
              <a:buNone/>
            </a:pPr>
            <a:r>
              <a:rPr b="1" lang="en" sz="1100">
                <a:solidFill>
                  <a:schemeClr val="dk1"/>
                </a:solidFill>
              </a:rPr>
              <a:t>Pipeline &amp; Standards</a:t>
            </a:r>
            <a:endParaRPr b="1" sz="1100">
              <a:solidFill>
                <a:schemeClr val="dk1"/>
              </a:solidFill>
            </a:endParaRPr>
          </a:p>
          <a:p>
            <a:pPr indent="-298450" lvl="0" marL="457200" rtl="0" algn="l">
              <a:spcBef>
                <a:spcPts val="1200"/>
              </a:spcBef>
              <a:spcAft>
                <a:spcPts val="0"/>
              </a:spcAft>
              <a:buClr>
                <a:schemeClr val="dk1"/>
              </a:buClr>
              <a:buSzPts val="1100"/>
              <a:buChar char="●"/>
            </a:pPr>
            <a:r>
              <a:rPr b="1" lang="en" sz="1100">
                <a:solidFill>
                  <a:schemeClr val="dk1"/>
                </a:solidFill>
              </a:rPr>
              <a:t>Perforce Handoff:</a:t>
            </a:r>
            <a:r>
              <a:rPr lang="en" sz="1100">
                <a:solidFill>
                  <a:schemeClr val="dk1"/>
                </a:solidFill>
              </a:rPr>
              <a:t> Final </a:t>
            </a:r>
            <a:r>
              <a:rPr lang="en" sz="1100">
                <a:solidFill>
                  <a:srgbClr val="188038"/>
                </a:solidFill>
              </a:rPr>
              <a:t>.ini</a:t>
            </a:r>
            <a:r>
              <a:rPr lang="en" sz="1100">
                <a:solidFill>
                  <a:schemeClr val="dk1"/>
                </a:solidFill>
              </a:rPr>
              <a:t> scalability and master light Blueprints </a:t>
            </a:r>
            <a:r>
              <a:rPr lang="en" sz="1100">
                <a:solidFill>
                  <a:schemeClr val="dk1"/>
                </a:solidFill>
              </a:rPr>
              <a:t>differences</a:t>
            </a:r>
            <a:r>
              <a:rPr lang="en" sz="1100">
                <a:solidFill>
                  <a:schemeClr val="dk1"/>
                </a:solidFill>
              </a:rPr>
              <a:t> due to the fact </a:t>
            </a:r>
            <a:r>
              <a:rPr lang="en" sz="1100">
                <a:solidFill>
                  <a:schemeClr val="dk1"/>
                </a:solidFill>
              </a:rPr>
              <a:t>it's</a:t>
            </a:r>
            <a:r>
              <a:rPr lang="en" sz="1100">
                <a:solidFill>
                  <a:schemeClr val="dk1"/>
                </a:solidFill>
              </a:rPr>
              <a:t> </a:t>
            </a:r>
            <a:r>
              <a:rPr lang="en" sz="1100">
                <a:solidFill>
                  <a:schemeClr val="dk1"/>
                </a:solidFill>
              </a:rPr>
              <a:t>different</a:t>
            </a:r>
            <a:r>
              <a:rPr lang="en" sz="1100">
                <a:solidFill>
                  <a:schemeClr val="dk1"/>
                </a:solidFill>
              </a:rPr>
              <a:t> versions</a:t>
            </a:r>
            <a:endParaRPr sz="1100">
              <a:solidFill>
                <a:schemeClr val="dk1"/>
              </a:solidFill>
            </a:endParaRPr>
          </a:p>
          <a:p>
            <a:pPr indent="-298450" lvl="0" marL="457200" rtl="0" algn="l">
              <a:spcBef>
                <a:spcPts val="0"/>
              </a:spcBef>
              <a:spcAft>
                <a:spcPts val="0"/>
              </a:spcAft>
              <a:buClr>
                <a:schemeClr val="dk1"/>
              </a:buClr>
              <a:buSzPts val="1100"/>
              <a:buChar char="●"/>
            </a:pPr>
            <a:r>
              <a:rPr lang="en" sz="1100">
                <a:solidFill>
                  <a:schemeClr val="dk1"/>
                </a:solidFill>
              </a:rPr>
              <a:t>Not </a:t>
            </a:r>
            <a:r>
              <a:rPr lang="en" sz="1100">
                <a:solidFill>
                  <a:schemeClr val="dk1"/>
                </a:solidFill>
              </a:rPr>
              <a:t>having</a:t>
            </a:r>
            <a:r>
              <a:rPr lang="en" sz="1100">
                <a:solidFill>
                  <a:schemeClr val="dk1"/>
                </a:solidFill>
              </a:rPr>
              <a:t> the automatic builds created every night by perforce (Also not being on perforce due to being a </a:t>
            </a:r>
            <a:r>
              <a:rPr lang="en" sz="1100">
                <a:solidFill>
                  <a:schemeClr val="dk1"/>
                </a:solidFill>
              </a:rPr>
              <a:t>different</a:t>
            </a:r>
            <a:r>
              <a:rPr lang="en" sz="1100">
                <a:solidFill>
                  <a:schemeClr val="dk1"/>
                </a:solidFill>
              </a:rPr>
              <a:t> version to the rest of the project)</a:t>
            </a:r>
            <a:endParaRPr sz="1100">
              <a:solidFill>
                <a:schemeClr val="dk1"/>
              </a:solidFill>
            </a:endParaRPr>
          </a:p>
          <a:p>
            <a:pPr indent="0" lvl="0" marL="0" rtl="0" algn="l">
              <a:spcBef>
                <a:spcPts val="1200"/>
              </a:spcBef>
              <a:spcAft>
                <a:spcPts val="1200"/>
              </a:spcAft>
              <a:buNone/>
            </a:pPr>
            <a:r>
              <a:t/>
            </a:r>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5" name="Shape 135"/>
        <p:cNvGrpSpPr/>
        <p:nvPr/>
      </p:nvGrpSpPr>
      <p:grpSpPr>
        <a:xfrm>
          <a:off x="0" y="0"/>
          <a:ext cx="0" cy="0"/>
          <a:chOff x="0" y="0"/>
          <a:chExt cx="0" cy="0"/>
        </a:xfrm>
      </p:grpSpPr>
      <p:sp>
        <p:nvSpPr>
          <p:cNvPr id="136" name="Google Shape;136;p26"/>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Show gameplay section</a:t>
            </a:r>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0" name="Shape 140"/>
        <p:cNvGrpSpPr/>
        <p:nvPr/>
      </p:nvGrpSpPr>
      <p:grpSpPr>
        <a:xfrm>
          <a:off x="0" y="0"/>
          <a:ext cx="0" cy="0"/>
          <a:chOff x="0" y="0"/>
          <a:chExt cx="0" cy="0"/>
        </a:xfrm>
      </p:grpSpPr>
      <p:sp>
        <p:nvSpPr>
          <p:cNvPr id="141" name="Google Shape;141;p27"/>
          <p:cNvSpPr txBox="1"/>
          <p:nvPr>
            <p:ph type="title"/>
          </p:nvPr>
        </p:nvSpPr>
        <p:spPr>
          <a:xfrm>
            <a:off x="311700" y="0"/>
            <a:ext cx="8520600" cy="5727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SzPts val="990"/>
              <a:buNone/>
            </a:pPr>
            <a:r>
              <a:rPr b="1" lang="en" sz="2620" u="sng"/>
              <a:t>Gpu of build 1</a:t>
            </a:r>
            <a:endParaRPr b="1" sz="2620" u="sng"/>
          </a:p>
        </p:txBody>
      </p:sp>
      <p:pic>
        <p:nvPicPr>
          <p:cNvPr id="142" name="Google Shape;142;p27"/>
          <p:cNvPicPr preferRelativeResize="0"/>
          <p:nvPr/>
        </p:nvPicPr>
        <p:blipFill>
          <a:blip r:embed="rId3">
            <a:alphaModFix/>
          </a:blip>
          <a:stretch>
            <a:fillRect/>
          </a:stretch>
        </p:blipFill>
        <p:spPr>
          <a:xfrm>
            <a:off x="0" y="473400"/>
            <a:ext cx="9144003" cy="4657651"/>
          </a:xfrm>
          <a:prstGeom prst="rect">
            <a:avLst/>
          </a:prstGeom>
          <a:noFill/>
          <a:ln>
            <a:noFill/>
          </a:ln>
        </p:spPr>
      </p:pic>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6" name="Shape 146"/>
        <p:cNvGrpSpPr/>
        <p:nvPr/>
      </p:nvGrpSpPr>
      <p:grpSpPr>
        <a:xfrm>
          <a:off x="0" y="0"/>
          <a:ext cx="0" cy="0"/>
          <a:chOff x="0" y="0"/>
          <a:chExt cx="0" cy="0"/>
        </a:xfrm>
      </p:grpSpPr>
      <p:sp>
        <p:nvSpPr>
          <p:cNvPr id="147" name="Google Shape;147;p28"/>
          <p:cNvSpPr txBox="1"/>
          <p:nvPr>
            <p:ph type="title"/>
          </p:nvPr>
        </p:nvSpPr>
        <p:spPr>
          <a:xfrm>
            <a:off x="311700" y="0"/>
            <a:ext cx="8520600" cy="5727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SzPts val="990"/>
              <a:buNone/>
            </a:pPr>
            <a:r>
              <a:rPr b="1" lang="en" sz="2620" u="sng"/>
              <a:t>Gpu of build 2</a:t>
            </a:r>
            <a:endParaRPr b="1" sz="2620" u="sng"/>
          </a:p>
        </p:txBody>
      </p:sp>
      <p:pic>
        <p:nvPicPr>
          <p:cNvPr id="148" name="Google Shape;148;p28"/>
          <p:cNvPicPr preferRelativeResize="0"/>
          <p:nvPr/>
        </p:nvPicPr>
        <p:blipFill>
          <a:blip r:embed="rId3">
            <a:alphaModFix/>
          </a:blip>
          <a:stretch>
            <a:fillRect/>
          </a:stretch>
        </p:blipFill>
        <p:spPr>
          <a:xfrm>
            <a:off x="-75225" y="495300"/>
            <a:ext cx="9219226" cy="4648200"/>
          </a:xfrm>
          <a:prstGeom prst="rect">
            <a:avLst/>
          </a:prstGeom>
          <a:noFill/>
          <a:ln>
            <a:noFill/>
          </a:ln>
        </p:spPr>
      </p:pic>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2" name="Shape 152"/>
        <p:cNvGrpSpPr/>
        <p:nvPr/>
      </p:nvGrpSpPr>
      <p:grpSpPr>
        <a:xfrm>
          <a:off x="0" y="0"/>
          <a:ext cx="0" cy="0"/>
          <a:chOff x="0" y="0"/>
          <a:chExt cx="0" cy="0"/>
        </a:xfrm>
      </p:grpSpPr>
      <p:sp>
        <p:nvSpPr>
          <p:cNvPr id="153" name="Google Shape;153;p29"/>
          <p:cNvSpPr txBox="1"/>
          <p:nvPr>
            <p:ph type="title"/>
          </p:nvPr>
        </p:nvSpPr>
        <p:spPr>
          <a:xfrm>
            <a:off x="311700" y="-56029"/>
            <a:ext cx="8520600" cy="5727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SzPts val="990"/>
              <a:buNone/>
            </a:pPr>
            <a:r>
              <a:rPr b="1" lang="en" sz="2620" u="sng"/>
              <a:t>Gpu comparison of both builds</a:t>
            </a:r>
            <a:endParaRPr b="1" sz="2620" u="sng"/>
          </a:p>
        </p:txBody>
      </p:sp>
      <p:pic>
        <p:nvPicPr>
          <p:cNvPr id="154" name="Google Shape;154;p29"/>
          <p:cNvPicPr preferRelativeResize="0"/>
          <p:nvPr/>
        </p:nvPicPr>
        <p:blipFill>
          <a:blip r:embed="rId3">
            <a:alphaModFix/>
          </a:blip>
          <a:stretch>
            <a:fillRect/>
          </a:stretch>
        </p:blipFill>
        <p:spPr>
          <a:xfrm>
            <a:off x="0" y="472975"/>
            <a:ext cx="5782599" cy="4670524"/>
          </a:xfrm>
          <a:prstGeom prst="rect">
            <a:avLst/>
          </a:prstGeom>
          <a:noFill/>
          <a:ln>
            <a:noFill/>
          </a:ln>
        </p:spPr>
      </p:pic>
      <p:sp>
        <p:nvSpPr>
          <p:cNvPr id="155" name="Google Shape;155;p29"/>
          <p:cNvSpPr txBox="1"/>
          <p:nvPr/>
        </p:nvSpPr>
        <p:spPr>
          <a:xfrm>
            <a:off x="5832300" y="516675"/>
            <a:ext cx="3279600" cy="40536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None/>
            </a:pPr>
            <a:r>
              <a:rPr b="1" lang="en" sz="1100" u="sng">
                <a:solidFill>
                  <a:schemeClr val="dk1"/>
                </a:solidFill>
              </a:rPr>
              <a:t>PS5 60 FPS Target Is Doable:</a:t>
            </a:r>
            <a:r>
              <a:rPr lang="en" sz="1100">
                <a:solidFill>
                  <a:schemeClr val="dk1"/>
                </a:solidFill>
              </a:rPr>
              <a:t> Frame time dropped from </a:t>
            </a:r>
            <a:r>
              <a:rPr lang="en" sz="1100" u="sng">
                <a:solidFill>
                  <a:schemeClr val="dk1"/>
                </a:solidFill>
              </a:rPr>
              <a:t>19.18 ms to 16.18 ms</a:t>
            </a:r>
            <a:r>
              <a:rPr lang="en" sz="1100">
                <a:solidFill>
                  <a:schemeClr val="dk1"/>
                </a:solidFill>
              </a:rPr>
              <a:t>, surpassing the target 60 FPS (16.6 ms) ceiling (Although it </a:t>
            </a:r>
            <a:r>
              <a:rPr lang="en" sz="1100">
                <a:solidFill>
                  <a:schemeClr val="dk1"/>
                </a:solidFill>
              </a:rPr>
              <a:t>isn't</a:t>
            </a:r>
            <a:r>
              <a:rPr lang="en" sz="1100">
                <a:solidFill>
                  <a:schemeClr val="dk1"/>
                </a:solidFill>
              </a:rPr>
              <a:t> perfect (Yet).</a:t>
            </a:r>
            <a:endParaRPr sz="1100">
              <a:solidFill>
                <a:schemeClr val="dk1"/>
              </a:solidFill>
            </a:endParaRPr>
          </a:p>
          <a:p>
            <a:pPr indent="0" lvl="0" marL="0" rtl="0" algn="l">
              <a:lnSpc>
                <a:spcPct val="115000"/>
              </a:lnSpc>
              <a:spcBef>
                <a:spcPts val="0"/>
              </a:spcBef>
              <a:spcAft>
                <a:spcPts val="0"/>
              </a:spcAft>
              <a:buNone/>
            </a:pPr>
            <a:r>
              <a:t/>
            </a:r>
            <a:endParaRPr b="1" sz="1100">
              <a:solidFill>
                <a:schemeClr val="dk1"/>
              </a:solidFill>
            </a:endParaRPr>
          </a:p>
          <a:p>
            <a:pPr indent="0" lvl="0" marL="0" rtl="0" algn="l">
              <a:lnSpc>
                <a:spcPct val="115000"/>
              </a:lnSpc>
              <a:spcBef>
                <a:spcPts val="0"/>
              </a:spcBef>
              <a:spcAft>
                <a:spcPts val="0"/>
              </a:spcAft>
              <a:buNone/>
            </a:pPr>
            <a:r>
              <a:rPr b="1" lang="en" sz="1100" u="sng">
                <a:solidFill>
                  <a:schemeClr val="dk1"/>
                </a:solidFill>
              </a:rPr>
              <a:t>CPU Thread Bottleneck Eliminated:</a:t>
            </a:r>
            <a:r>
              <a:rPr lang="en" sz="1100">
                <a:solidFill>
                  <a:schemeClr val="dk1"/>
                </a:solidFill>
              </a:rPr>
              <a:t> Draw Thread dropped by </a:t>
            </a:r>
            <a:r>
              <a:rPr b="1" lang="en" sz="1100">
                <a:solidFill>
                  <a:schemeClr val="dk1"/>
                </a:solidFill>
              </a:rPr>
              <a:t>3.03 ms</a:t>
            </a:r>
            <a:r>
              <a:rPr lang="en" sz="1100">
                <a:solidFill>
                  <a:schemeClr val="dk1"/>
                </a:solidFill>
              </a:rPr>
              <a:t> and Game Thread dropped by </a:t>
            </a:r>
            <a:r>
              <a:rPr b="1" lang="en" sz="1100">
                <a:solidFill>
                  <a:schemeClr val="dk1"/>
                </a:solidFill>
              </a:rPr>
              <a:t>3.35 ms</a:t>
            </a:r>
            <a:r>
              <a:rPr lang="en" sz="1100">
                <a:solidFill>
                  <a:schemeClr val="dk1"/>
                </a:solidFill>
              </a:rPr>
              <a:t>, preventing CPU stalls before rendering passes reach the GPU.</a:t>
            </a:r>
            <a:endParaRPr sz="1100">
              <a:solidFill>
                <a:schemeClr val="dk1"/>
              </a:solidFill>
            </a:endParaRPr>
          </a:p>
          <a:p>
            <a:pPr indent="0" lvl="0" marL="0" rtl="0" algn="l">
              <a:lnSpc>
                <a:spcPct val="115000"/>
              </a:lnSpc>
              <a:spcBef>
                <a:spcPts val="0"/>
              </a:spcBef>
              <a:spcAft>
                <a:spcPts val="0"/>
              </a:spcAft>
              <a:buNone/>
            </a:pPr>
            <a:r>
              <a:t/>
            </a:r>
            <a:endParaRPr b="1" sz="1100">
              <a:solidFill>
                <a:schemeClr val="dk1"/>
              </a:solidFill>
            </a:endParaRPr>
          </a:p>
          <a:p>
            <a:pPr indent="0" lvl="0" marL="0" rtl="0" algn="l">
              <a:lnSpc>
                <a:spcPct val="115000"/>
              </a:lnSpc>
              <a:spcBef>
                <a:spcPts val="0"/>
              </a:spcBef>
              <a:spcAft>
                <a:spcPts val="0"/>
              </a:spcAft>
              <a:buNone/>
            </a:pPr>
            <a:r>
              <a:rPr b="1" lang="en" sz="1100" u="sng">
                <a:solidFill>
                  <a:schemeClr val="dk1"/>
                </a:solidFill>
              </a:rPr>
              <a:t>Doubled Geometric Detail with Better Performance:</a:t>
            </a:r>
            <a:r>
              <a:rPr lang="en" sz="1100" u="sng">
                <a:solidFill>
                  <a:schemeClr val="dk1"/>
                </a:solidFill>
              </a:rPr>
              <a:t> </a:t>
            </a:r>
            <a:r>
              <a:rPr lang="en" sz="1100">
                <a:solidFill>
                  <a:schemeClr val="dk1"/>
                </a:solidFill>
              </a:rPr>
              <a:t>Scene primitive count increased from </a:t>
            </a:r>
            <a:r>
              <a:rPr b="1" lang="en" sz="1100">
                <a:solidFill>
                  <a:schemeClr val="dk1"/>
                </a:solidFill>
              </a:rPr>
              <a:t>2.44M to 5.03M</a:t>
            </a:r>
            <a:r>
              <a:rPr lang="en" sz="1100">
                <a:solidFill>
                  <a:schemeClr val="dk1"/>
                </a:solidFill>
              </a:rPr>
              <a:t> (+105% detail) while simultaneously running faster.</a:t>
            </a:r>
            <a:endParaRPr sz="1100">
              <a:solidFill>
                <a:schemeClr val="dk1"/>
              </a:solidFill>
            </a:endParaRPr>
          </a:p>
          <a:p>
            <a:pPr indent="0" lvl="0" marL="0" rtl="0" algn="l">
              <a:lnSpc>
                <a:spcPct val="115000"/>
              </a:lnSpc>
              <a:spcBef>
                <a:spcPts val="0"/>
              </a:spcBef>
              <a:spcAft>
                <a:spcPts val="0"/>
              </a:spcAft>
              <a:buNone/>
            </a:pPr>
            <a:r>
              <a:t/>
            </a:r>
            <a:endParaRPr b="1" sz="1100">
              <a:solidFill>
                <a:schemeClr val="dk1"/>
              </a:solidFill>
            </a:endParaRPr>
          </a:p>
          <a:p>
            <a:pPr indent="0" lvl="0" marL="0" rtl="0" algn="l">
              <a:lnSpc>
                <a:spcPct val="115000"/>
              </a:lnSpc>
              <a:spcBef>
                <a:spcPts val="0"/>
              </a:spcBef>
              <a:spcAft>
                <a:spcPts val="0"/>
              </a:spcAft>
              <a:buNone/>
            </a:pPr>
            <a:r>
              <a:rPr b="1" lang="en" sz="1100" u="sng">
                <a:solidFill>
                  <a:schemeClr val="dk1"/>
                </a:solidFill>
              </a:rPr>
              <a:t>Memory Pool Expansion:</a:t>
            </a:r>
            <a:r>
              <a:rPr lang="en" sz="1100" u="sng">
                <a:solidFill>
                  <a:schemeClr val="dk1"/>
                </a:solidFill>
              </a:rPr>
              <a:t> </a:t>
            </a:r>
            <a:r>
              <a:rPr lang="en" sz="1100">
                <a:solidFill>
                  <a:schemeClr val="dk1"/>
                </a:solidFill>
              </a:rPr>
              <a:t>VRAM dropped by </a:t>
            </a:r>
            <a:r>
              <a:rPr b="1" lang="en" sz="1100">
                <a:solidFill>
                  <a:schemeClr val="dk1"/>
                </a:solidFill>
              </a:rPr>
              <a:t>230 MB</a:t>
            </a:r>
            <a:r>
              <a:rPr lang="en" sz="1100">
                <a:solidFill>
                  <a:schemeClr val="dk1"/>
                </a:solidFill>
              </a:rPr>
              <a:t> and the red Ray Tracing resident memory budget warning was completely cleared, preventing mid-game DX12 BVH thrashing and stutter.</a:t>
            </a:r>
            <a:endParaRPr sz="1100">
              <a:solidFill>
                <a:schemeClr val="dk1"/>
              </a:solidFill>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9" name="Shape 159"/>
        <p:cNvGrpSpPr/>
        <p:nvPr/>
      </p:nvGrpSpPr>
      <p:grpSpPr>
        <a:xfrm>
          <a:off x="0" y="0"/>
          <a:ext cx="0" cy="0"/>
          <a:chOff x="0" y="0"/>
          <a:chExt cx="0" cy="0"/>
        </a:xfrm>
      </p:grpSpPr>
      <p:sp>
        <p:nvSpPr>
          <p:cNvPr id="160" name="Google Shape;160;p30"/>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5.8 Builds V1 Vs V2</a:t>
            </a:r>
            <a:endParaRPr/>
          </a:p>
        </p:txBody>
      </p:sp>
      <p:pic>
        <p:nvPicPr>
          <p:cNvPr id="161" name="Google Shape;161;p30"/>
          <p:cNvPicPr preferRelativeResize="0"/>
          <p:nvPr/>
        </p:nvPicPr>
        <p:blipFill>
          <a:blip r:embed="rId3">
            <a:alphaModFix/>
          </a:blip>
          <a:stretch>
            <a:fillRect/>
          </a:stretch>
        </p:blipFill>
        <p:spPr>
          <a:xfrm>
            <a:off x="0" y="1156525"/>
            <a:ext cx="4455820" cy="3820975"/>
          </a:xfrm>
          <a:prstGeom prst="rect">
            <a:avLst/>
          </a:prstGeom>
          <a:noFill/>
          <a:ln>
            <a:noFill/>
          </a:ln>
        </p:spPr>
      </p:pic>
      <p:pic>
        <p:nvPicPr>
          <p:cNvPr id="162" name="Google Shape;162;p30"/>
          <p:cNvPicPr preferRelativeResize="0"/>
          <p:nvPr/>
        </p:nvPicPr>
        <p:blipFill>
          <a:blip r:embed="rId4">
            <a:alphaModFix/>
          </a:blip>
          <a:stretch>
            <a:fillRect/>
          </a:stretch>
        </p:blipFill>
        <p:spPr>
          <a:xfrm>
            <a:off x="4760625" y="1156525"/>
            <a:ext cx="4383376" cy="3820975"/>
          </a:xfrm>
          <a:prstGeom prst="rect">
            <a:avLst/>
          </a:prstGeom>
          <a:noFill/>
          <a:ln>
            <a:noFill/>
          </a:ln>
        </p:spPr>
      </p:pic>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6" name="Shape 166"/>
        <p:cNvGrpSpPr/>
        <p:nvPr/>
      </p:nvGrpSpPr>
      <p:grpSpPr>
        <a:xfrm>
          <a:off x="0" y="0"/>
          <a:ext cx="0" cy="0"/>
          <a:chOff x="0" y="0"/>
          <a:chExt cx="0" cy="0"/>
        </a:xfrm>
      </p:grpSpPr>
      <p:sp>
        <p:nvSpPr>
          <p:cNvPr id="167" name="Google Shape;167;p31"/>
          <p:cNvSpPr txBox="1"/>
          <p:nvPr>
            <p:ph type="title"/>
          </p:nvPr>
        </p:nvSpPr>
        <p:spPr>
          <a:xfrm>
            <a:off x="121200" y="64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More stats</a:t>
            </a:r>
            <a:endParaRPr/>
          </a:p>
        </p:txBody>
      </p:sp>
      <p:sp>
        <p:nvSpPr>
          <p:cNvPr id="168" name="Google Shape;168;p31"/>
          <p:cNvSpPr txBox="1"/>
          <p:nvPr/>
        </p:nvSpPr>
        <p:spPr>
          <a:xfrm>
            <a:off x="0" y="636725"/>
            <a:ext cx="3271500" cy="40128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200"/>
              </a:spcBef>
              <a:spcAft>
                <a:spcPts val="0"/>
              </a:spcAft>
              <a:buNone/>
            </a:pPr>
            <a:r>
              <a:rPr b="1" lang="en" sz="1100">
                <a:solidFill>
                  <a:schemeClr val="dk1"/>
                </a:solidFill>
              </a:rPr>
              <a:t>   </a:t>
            </a:r>
            <a:r>
              <a:rPr b="1" lang="en" sz="1100">
                <a:solidFill>
                  <a:schemeClr val="dk1"/>
                </a:solidFill>
              </a:rPr>
              <a:t>Key Visual &amp; Design Upgrades</a:t>
            </a:r>
            <a:endParaRPr b="1" sz="1100">
              <a:solidFill>
                <a:schemeClr val="dk1"/>
              </a:solidFill>
            </a:endParaRPr>
          </a:p>
          <a:p>
            <a:pPr indent="-298450" lvl="0" marL="457200" rtl="0" algn="l">
              <a:lnSpc>
                <a:spcPct val="115000"/>
              </a:lnSpc>
              <a:spcBef>
                <a:spcPts val="1200"/>
              </a:spcBef>
              <a:spcAft>
                <a:spcPts val="0"/>
              </a:spcAft>
              <a:buClr>
                <a:schemeClr val="dk1"/>
              </a:buClr>
              <a:buSzPts val="1100"/>
              <a:buChar char="●"/>
            </a:pPr>
            <a:r>
              <a:rPr b="1" lang="en" sz="1100">
                <a:solidFill>
                  <a:schemeClr val="dk1"/>
                </a:solidFill>
              </a:rPr>
              <a:t>True Multi-Light Dynamic Shadowing:</a:t>
            </a:r>
            <a:endParaRPr b="1" sz="1100">
              <a:solidFill>
                <a:schemeClr val="dk1"/>
              </a:solidFill>
            </a:endParaRPr>
          </a:p>
          <a:p>
            <a:pPr indent="-298450" lvl="0" marL="457200" rtl="0" algn="l">
              <a:lnSpc>
                <a:spcPct val="115000"/>
              </a:lnSpc>
              <a:spcBef>
                <a:spcPts val="0"/>
              </a:spcBef>
              <a:spcAft>
                <a:spcPts val="0"/>
              </a:spcAft>
              <a:buClr>
                <a:schemeClr val="dk1"/>
              </a:buClr>
              <a:buSzPts val="1100"/>
              <a:buChar char="●"/>
            </a:pPr>
            <a:r>
              <a:rPr lang="en" sz="1100">
                <a:solidFill>
                  <a:schemeClr val="dk1"/>
                </a:solidFill>
              </a:rPr>
              <a:t>Every hanging lantern, roadside brazier, and courtyard lamp in V2 casts real-time moving shadows, creating dense geometric silhouettes across stone fences and Torii gates that were completely absent in V1.</a:t>
            </a:r>
            <a:endParaRPr sz="1100">
              <a:solidFill>
                <a:schemeClr val="dk1"/>
              </a:solidFill>
            </a:endParaRPr>
          </a:p>
          <a:p>
            <a:pPr indent="-298450" lvl="0" marL="457200" rtl="0" algn="l">
              <a:lnSpc>
                <a:spcPct val="115000"/>
              </a:lnSpc>
              <a:spcBef>
                <a:spcPts val="0"/>
              </a:spcBef>
              <a:spcAft>
                <a:spcPts val="0"/>
              </a:spcAft>
              <a:buClr>
                <a:schemeClr val="dk1"/>
              </a:buClr>
              <a:buSzPts val="1100"/>
              <a:buChar char="●"/>
            </a:pPr>
            <a:r>
              <a:rPr b="1" lang="en" sz="1100">
                <a:solidFill>
                  <a:schemeClr val="dk1"/>
                </a:solidFill>
              </a:rPr>
              <a:t>Hero Lantern-Spirit Integration:</a:t>
            </a:r>
            <a:endParaRPr b="1" sz="1100">
              <a:solidFill>
                <a:schemeClr val="dk1"/>
              </a:solidFill>
            </a:endParaRPr>
          </a:p>
          <a:p>
            <a:pPr indent="-298450" lvl="0" marL="457200" rtl="0" algn="l">
              <a:lnSpc>
                <a:spcPct val="115000"/>
              </a:lnSpc>
              <a:spcBef>
                <a:spcPts val="0"/>
              </a:spcBef>
              <a:spcAft>
                <a:spcPts val="0"/>
              </a:spcAft>
              <a:buClr>
                <a:schemeClr val="dk1"/>
              </a:buClr>
              <a:buSzPts val="1100"/>
              <a:buChar char="●"/>
            </a:pPr>
            <a:r>
              <a:rPr lang="en" sz="1100">
                <a:solidFill>
                  <a:schemeClr val="dk1"/>
                </a:solidFill>
              </a:rPr>
              <a:t>V2 fully supports the moving lantern-spirit light source sweeping across the environment without requiring baked light fallbacks or disabling world shadows.</a:t>
            </a:r>
            <a:endParaRPr sz="1100">
              <a:solidFill>
                <a:schemeClr val="dk1"/>
              </a:solidFill>
            </a:endParaRPr>
          </a:p>
          <a:p>
            <a:pPr indent="-298450" lvl="0" marL="457200" rtl="0" algn="l">
              <a:lnSpc>
                <a:spcPct val="115000"/>
              </a:lnSpc>
              <a:spcBef>
                <a:spcPts val="0"/>
              </a:spcBef>
              <a:spcAft>
                <a:spcPts val="0"/>
              </a:spcAft>
              <a:buClr>
                <a:schemeClr val="dk1"/>
              </a:buClr>
              <a:buSzPts val="1100"/>
              <a:buChar char="●"/>
            </a:pPr>
            <a:r>
              <a:rPr b="1" lang="en" sz="1100">
                <a:solidFill>
                  <a:schemeClr val="dk1"/>
                </a:solidFill>
              </a:rPr>
              <a:t>Environmental Wetness &amp; Specular Response:</a:t>
            </a:r>
            <a:endParaRPr b="1" sz="1100">
              <a:solidFill>
                <a:schemeClr val="dk1"/>
              </a:solidFill>
            </a:endParaRPr>
          </a:p>
          <a:p>
            <a:pPr indent="-298450" lvl="0" marL="457200" rtl="0" algn="l">
              <a:lnSpc>
                <a:spcPct val="115000"/>
              </a:lnSpc>
              <a:spcBef>
                <a:spcPts val="0"/>
              </a:spcBef>
              <a:spcAft>
                <a:spcPts val="0"/>
              </a:spcAft>
              <a:buClr>
                <a:schemeClr val="dk1"/>
              </a:buClr>
              <a:buSzPts val="1100"/>
              <a:buChar char="●"/>
            </a:pPr>
            <a:r>
              <a:rPr lang="en" sz="1100">
                <a:solidFill>
                  <a:schemeClr val="dk1"/>
                </a:solidFill>
              </a:rPr>
              <a:t>Stone steps and cobblestone pathways now feature real-time specular highlights from multiple light sources, elevating visual fidelity in dark courtyard areas.</a:t>
            </a:r>
            <a:endParaRPr sz="1100">
              <a:solidFill>
                <a:schemeClr val="dk1"/>
              </a:solidFill>
            </a:endParaRPr>
          </a:p>
        </p:txBody>
      </p:sp>
      <p:sp>
        <p:nvSpPr>
          <p:cNvPr id="169" name="Google Shape;169;p31"/>
          <p:cNvSpPr txBox="1"/>
          <p:nvPr/>
        </p:nvSpPr>
        <p:spPr>
          <a:xfrm>
            <a:off x="3271500" y="636725"/>
            <a:ext cx="2871900" cy="36234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200"/>
              </a:spcBef>
              <a:spcAft>
                <a:spcPts val="0"/>
              </a:spcAft>
              <a:buNone/>
            </a:pPr>
            <a:r>
              <a:rPr b="1" lang="en" sz="1100">
                <a:solidFill>
                  <a:schemeClr val="dk1"/>
                </a:solidFill>
              </a:rPr>
              <a:t>Technical &amp; Architecture Advances</a:t>
            </a:r>
            <a:endParaRPr b="1" sz="1100">
              <a:solidFill>
                <a:schemeClr val="dk1"/>
              </a:solidFill>
            </a:endParaRPr>
          </a:p>
          <a:p>
            <a:pPr indent="-298450" lvl="0" marL="457200" rtl="0" algn="l">
              <a:lnSpc>
                <a:spcPct val="115000"/>
              </a:lnSpc>
              <a:spcBef>
                <a:spcPts val="1200"/>
              </a:spcBef>
              <a:spcAft>
                <a:spcPts val="0"/>
              </a:spcAft>
              <a:buClr>
                <a:schemeClr val="dk1"/>
              </a:buClr>
              <a:buSzPts val="1100"/>
              <a:buChar char="●"/>
            </a:pPr>
            <a:r>
              <a:rPr b="1" lang="en" sz="1100">
                <a:solidFill>
                  <a:schemeClr val="dk1"/>
                </a:solidFill>
              </a:rPr>
              <a:t>MegaLights Use increased:</a:t>
            </a:r>
            <a:endParaRPr b="1" sz="1100">
              <a:solidFill>
                <a:schemeClr val="dk1"/>
              </a:solidFill>
            </a:endParaRPr>
          </a:p>
          <a:p>
            <a:pPr indent="-298450" lvl="0" marL="457200" rtl="0" algn="l">
              <a:lnSpc>
                <a:spcPct val="115000"/>
              </a:lnSpc>
              <a:spcBef>
                <a:spcPts val="0"/>
              </a:spcBef>
              <a:spcAft>
                <a:spcPts val="0"/>
              </a:spcAft>
              <a:buClr>
                <a:schemeClr val="dk1"/>
              </a:buClr>
              <a:buSzPts val="1100"/>
              <a:buChar char="●"/>
            </a:pPr>
            <a:r>
              <a:rPr lang="en" sz="1100">
                <a:solidFill>
                  <a:schemeClr val="dk1"/>
                </a:solidFill>
              </a:rPr>
              <a:t>Replaces legacy per-light rasterized shadow map passes with unified stochastic ray-traced direct lighting, allowing multiple overlapping light cones in dense courtyard vistas.</a:t>
            </a:r>
            <a:endParaRPr sz="1100">
              <a:solidFill>
                <a:schemeClr val="dk1"/>
              </a:solidFill>
            </a:endParaRPr>
          </a:p>
          <a:p>
            <a:pPr indent="-298450" lvl="0" marL="457200" rtl="0" algn="l">
              <a:lnSpc>
                <a:spcPct val="115000"/>
              </a:lnSpc>
              <a:spcBef>
                <a:spcPts val="0"/>
              </a:spcBef>
              <a:spcAft>
                <a:spcPts val="0"/>
              </a:spcAft>
              <a:buClr>
                <a:schemeClr val="dk1"/>
              </a:buClr>
              <a:buSzPts val="1100"/>
              <a:buChar char="●"/>
            </a:pPr>
            <a:r>
              <a:rPr b="1" lang="en" sz="1100">
                <a:solidFill>
                  <a:schemeClr val="dk1"/>
                </a:solidFill>
              </a:rPr>
              <a:t>Lumen Lite Optimization:</a:t>
            </a:r>
            <a:endParaRPr b="1" sz="1100">
              <a:solidFill>
                <a:schemeClr val="dk1"/>
              </a:solidFill>
            </a:endParaRPr>
          </a:p>
          <a:p>
            <a:pPr indent="-298450" lvl="0" marL="457200" rtl="0" algn="l">
              <a:lnSpc>
                <a:spcPct val="115000"/>
              </a:lnSpc>
              <a:spcBef>
                <a:spcPts val="0"/>
              </a:spcBef>
              <a:spcAft>
                <a:spcPts val="0"/>
              </a:spcAft>
              <a:buClr>
                <a:schemeClr val="dk1"/>
              </a:buClr>
              <a:buSzPts val="1100"/>
              <a:buChar char="●"/>
            </a:pPr>
            <a:r>
              <a:rPr lang="en" sz="1100">
                <a:solidFill>
                  <a:schemeClr val="dk1"/>
                </a:solidFill>
              </a:rPr>
              <a:t>Switches global illumination evaluation to Surface Cache and Irradiance Fields, saving ~1.3 ms of GPU time compared to Full Lumen.</a:t>
            </a:r>
            <a:endParaRPr sz="1100">
              <a:solidFill>
                <a:schemeClr val="dk1"/>
              </a:solidFill>
            </a:endParaRPr>
          </a:p>
          <a:p>
            <a:pPr indent="-298450" lvl="0" marL="457200" rtl="0" algn="l">
              <a:lnSpc>
                <a:spcPct val="115000"/>
              </a:lnSpc>
              <a:spcBef>
                <a:spcPts val="0"/>
              </a:spcBef>
              <a:spcAft>
                <a:spcPts val="0"/>
              </a:spcAft>
              <a:buClr>
                <a:schemeClr val="dk1"/>
              </a:buClr>
              <a:buSzPts val="1100"/>
              <a:buChar char="●"/>
            </a:pPr>
            <a:r>
              <a:rPr b="1" lang="en" sz="1100">
                <a:solidFill>
                  <a:schemeClr val="dk1"/>
                </a:solidFill>
              </a:rPr>
              <a:t>Hardware Ray Tracing Proxies:</a:t>
            </a:r>
            <a:endParaRPr b="1" sz="1100">
              <a:solidFill>
                <a:schemeClr val="dk1"/>
              </a:solidFill>
            </a:endParaRPr>
          </a:p>
          <a:p>
            <a:pPr indent="-298450" lvl="0" marL="457200" rtl="0" algn="l">
              <a:lnSpc>
                <a:spcPct val="115000"/>
              </a:lnSpc>
              <a:spcBef>
                <a:spcPts val="0"/>
              </a:spcBef>
              <a:spcAft>
                <a:spcPts val="0"/>
              </a:spcAft>
              <a:buClr>
                <a:schemeClr val="dk1"/>
              </a:buClr>
              <a:buSzPts val="1100"/>
              <a:buChar char="●"/>
            </a:pPr>
            <a:r>
              <a:rPr lang="en" sz="1100">
                <a:solidFill>
                  <a:schemeClr val="dk1"/>
                </a:solidFill>
              </a:rPr>
              <a:t>V2 generates low-poly proxy representations for RT traversal, reducing BVH build times on high-density environment props.</a:t>
            </a:r>
            <a:endParaRPr sz="1100">
              <a:solidFill>
                <a:schemeClr val="dk1"/>
              </a:solidFill>
            </a:endParaRPr>
          </a:p>
        </p:txBody>
      </p:sp>
      <p:sp>
        <p:nvSpPr>
          <p:cNvPr id="170" name="Google Shape;170;p31"/>
          <p:cNvSpPr txBox="1"/>
          <p:nvPr/>
        </p:nvSpPr>
        <p:spPr>
          <a:xfrm>
            <a:off x="6387600" y="636725"/>
            <a:ext cx="2456400" cy="36234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200"/>
              </a:spcBef>
              <a:spcAft>
                <a:spcPts val="0"/>
              </a:spcAft>
              <a:buNone/>
            </a:pPr>
            <a:r>
              <a:rPr b="1" lang="en" sz="1100">
                <a:solidFill>
                  <a:schemeClr val="dk1"/>
                </a:solidFill>
              </a:rPr>
              <a:t>Milestone Progress Toward 60 FPS (PS5 Budget)</a:t>
            </a:r>
            <a:endParaRPr b="1" sz="1100">
              <a:solidFill>
                <a:schemeClr val="dk1"/>
              </a:solidFill>
            </a:endParaRPr>
          </a:p>
          <a:p>
            <a:pPr indent="-298450" lvl="0" marL="457200" rtl="0" algn="l">
              <a:lnSpc>
                <a:spcPct val="115000"/>
              </a:lnSpc>
              <a:spcBef>
                <a:spcPts val="1200"/>
              </a:spcBef>
              <a:spcAft>
                <a:spcPts val="0"/>
              </a:spcAft>
              <a:buClr>
                <a:schemeClr val="dk1"/>
              </a:buClr>
              <a:buSzPts val="1100"/>
              <a:buChar char="●"/>
            </a:pPr>
            <a:r>
              <a:rPr b="1" lang="en" sz="1100">
                <a:solidFill>
                  <a:schemeClr val="dk1"/>
                </a:solidFill>
              </a:rPr>
              <a:t>Visual Benchmark Locked:</a:t>
            </a:r>
            <a:endParaRPr b="1" sz="1100">
              <a:solidFill>
                <a:schemeClr val="dk1"/>
              </a:solidFill>
            </a:endParaRPr>
          </a:p>
          <a:p>
            <a:pPr indent="-298450" lvl="0" marL="457200" rtl="0" algn="l">
              <a:lnSpc>
                <a:spcPct val="115000"/>
              </a:lnSpc>
              <a:spcBef>
                <a:spcPts val="0"/>
              </a:spcBef>
              <a:spcAft>
                <a:spcPts val="0"/>
              </a:spcAft>
              <a:buClr>
                <a:schemeClr val="dk1"/>
              </a:buClr>
              <a:buSzPts val="1100"/>
              <a:buChar char="●"/>
            </a:pPr>
            <a:r>
              <a:rPr lang="en" sz="1100">
                <a:solidFill>
                  <a:schemeClr val="dk1"/>
                </a:solidFill>
              </a:rPr>
              <a:t>V2 establishes the agreed-upon art direction and lighting density required by the project brief.</a:t>
            </a:r>
            <a:endParaRPr sz="1100">
              <a:solidFill>
                <a:schemeClr val="dk1"/>
              </a:solidFill>
            </a:endParaRPr>
          </a:p>
          <a:p>
            <a:pPr indent="-298450" lvl="0" marL="457200" rtl="0" algn="l">
              <a:lnSpc>
                <a:spcPct val="115000"/>
              </a:lnSpc>
              <a:spcBef>
                <a:spcPts val="0"/>
              </a:spcBef>
              <a:spcAft>
                <a:spcPts val="0"/>
              </a:spcAft>
              <a:buClr>
                <a:schemeClr val="dk1"/>
              </a:buClr>
              <a:buSzPts val="1100"/>
              <a:buChar char="●"/>
            </a:pPr>
            <a:r>
              <a:rPr b="1" lang="en" sz="1100">
                <a:solidFill>
                  <a:schemeClr val="dk1"/>
                </a:solidFill>
              </a:rPr>
              <a:t>Culling &amp; Budget Alignment:</a:t>
            </a:r>
            <a:endParaRPr b="1" sz="1100">
              <a:solidFill>
                <a:schemeClr val="dk1"/>
              </a:solidFill>
            </a:endParaRPr>
          </a:p>
          <a:p>
            <a:pPr indent="-298450" lvl="0" marL="457200" rtl="0" algn="l">
              <a:lnSpc>
                <a:spcPct val="115000"/>
              </a:lnSpc>
              <a:spcBef>
                <a:spcPts val="0"/>
              </a:spcBef>
              <a:spcAft>
                <a:spcPts val="0"/>
              </a:spcAft>
              <a:buClr>
                <a:schemeClr val="dk1"/>
              </a:buClr>
              <a:buSzPts val="1100"/>
              <a:buChar char="●"/>
            </a:pPr>
            <a:r>
              <a:rPr lang="en" sz="1100">
                <a:solidFill>
                  <a:schemeClr val="dk1"/>
                </a:solidFill>
              </a:rPr>
              <a:t>Applying a 20-meter shadow clamp, increasing the RT memory pool to 1024 MB, and instancing repetitive path meshes brings V2's visual density directly into a locked </a:t>
            </a:r>
            <a:r>
              <a:rPr b="1" lang="en" sz="1100">
                <a:solidFill>
                  <a:schemeClr val="dk1"/>
                </a:solidFill>
              </a:rPr>
              <a:t>16.6 ms (60 FPS)</a:t>
            </a:r>
            <a:r>
              <a:rPr lang="en" sz="1100">
                <a:solidFill>
                  <a:schemeClr val="dk1"/>
                </a:solidFill>
              </a:rPr>
              <a:t> performance window.</a:t>
            </a:r>
            <a:endParaRPr sz="1100">
              <a:solidFill>
                <a:schemeClr val="dk1"/>
              </a:solidFill>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4" name="Shape 174"/>
        <p:cNvGrpSpPr/>
        <p:nvPr/>
      </p:nvGrpSpPr>
      <p:grpSpPr>
        <a:xfrm>
          <a:off x="0" y="0"/>
          <a:ext cx="0" cy="0"/>
          <a:chOff x="0" y="0"/>
          <a:chExt cx="0" cy="0"/>
        </a:xfrm>
      </p:grpSpPr>
      <p:sp>
        <p:nvSpPr>
          <p:cNvPr id="175" name="Google Shape;175;p32"/>
          <p:cNvSpPr txBox="1"/>
          <p:nvPr>
            <p:ph type="title"/>
          </p:nvPr>
        </p:nvSpPr>
        <p:spPr>
          <a:xfrm>
            <a:off x="148425"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Hard Stats Between Builds</a:t>
            </a:r>
            <a:endParaRPr/>
          </a:p>
        </p:txBody>
      </p:sp>
      <p:pic>
        <p:nvPicPr>
          <p:cNvPr id="176" name="Google Shape;176;p32"/>
          <p:cNvPicPr preferRelativeResize="0"/>
          <p:nvPr/>
        </p:nvPicPr>
        <p:blipFill>
          <a:blip r:embed="rId3">
            <a:alphaModFix/>
          </a:blip>
          <a:stretch>
            <a:fillRect/>
          </a:stretch>
        </p:blipFill>
        <p:spPr>
          <a:xfrm>
            <a:off x="4193725" y="0"/>
            <a:ext cx="4747841" cy="5143499"/>
          </a:xfrm>
          <a:prstGeom prst="rect">
            <a:avLst/>
          </a:prstGeom>
          <a:noFill/>
          <a:ln>
            <a:noFill/>
          </a:ln>
        </p:spPr>
      </p:pic>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0" name="Shape 180"/>
        <p:cNvGrpSpPr/>
        <p:nvPr/>
      </p:nvGrpSpPr>
      <p:grpSpPr>
        <a:xfrm>
          <a:off x="0" y="0"/>
          <a:ext cx="0" cy="0"/>
          <a:chOff x="0" y="0"/>
          <a:chExt cx="0" cy="0"/>
        </a:xfrm>
      </p:grpSpPr>
      <p:sp>
        <p:nvSpPr>
          <p:cNvPr id="181" name="Google Shape;181;p33"/>
          <p:cNvSpPr txBox="1"/>
          <p:nvPr>
            <p:ph type="title"/>
          </p:nvPr>
        </p:nvSpPr>
        <p:spPr>
          <a:xfrm>
            <a:off x="311700" y="0"/>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Do I think My Brief is possible, YES</a:t>
            </a:r>
            <a:endParaRPr/>
          </a:p>
        </p:txBody>
      </p:sp>
      <p:sp>
        <p:nvSpPr>
          <p:cNvPr id="182" name="Google Shape;182;p33"/>
          <p:cNvSpPr txBox="1"/>
          <p:nvPr>
            <p:ph idx="1" type="body"/>
          </p:nvPr>
        </p:nvSpPr>
        <p:spPr>
          <a:xfrm>
            <a:off x="311700" y="1152475"/>
            <a:ext cx="8520600" cy="3416400"/>
          </a:xfrm>
          <a:prstGeom prst="rect">
            <a:avLst/>
          </a:prstGeom>
        </p:spPr>
        <p:txBody>
          <a:bodyPr anchorCtr="0" anchor="t" bIns="91425" lIns="91425" spcFirstLastPara="1" rIns="91425" wrap="square" tIns="91425">
            <a:normAutofit fontScale="77500" lnSpcReduction="20000"/>
          </a:bodyPr>
          <a:lstStyle/>
          <a:p>
            <a:pPr indent="0" lvl="0" marL="0" rtl="0" algn="l">
              <a:spcBef>
                <a:spcPts val="0"/>
              </a:spcBef>
              <a:spcAft>
                <a:spcPts val="0"/>
              </a:spcAft>
              <a:buClr>
                <a:schemeClr val="dk1"/>
              </a:buClr>
              <a:buSzPct val="100000"/>
              <a:buFont typeface="Arial"/>
              <a:buNone/>
            </a:pPr>
            <a:r>
              <a:rPr b="1" lang="en" sz="1100">
                <a:solidFill>
                  <a:schemeClr val="dk1"/>
                </a:solidFill>
              </a:rPr>
              <a:t>Target &amp; Baseline</a:t>
            </a:r>
            <a:endParaRPr b="1" sz="1100">
              <a:solidFill>
                <a:schemeClr val="dk1"/>
              </a:solidFill>
            </a:endParaRPr>
          </a:p>
          <a:p>
            <a:pPr indent="-282734" lvl="0" marL="457200" rtl="0" algn="l">
              <a:spcBef>
                <a:spcPts val="1200"/>
              </a:spcBef>
              <a:spcAft>
                <a:spcPts val="0"/>
              </a:spcAft>
              <a:buClr>
                <a:schemeClr val="dk1"/>
              </a:buClr>
              <a:buSzPct val="100000"/>
              <a:buChar char="●"/>
            </a:pPr>
            <a:r>
              <a:rPr b="1" lang="en" sz="1100">
                <a:solidFill>
                  <a:schemeClr val="dk1"/>
                </a:solidFill>
              </a:rPr>
              <a:t>The Goal:</a:t>
            </a:r>
            <a:r>
              <a:rPr lang="en" sz="1100">
                <a:solidFill>
                  <a:schemeClr val="dk1"/>
                </a:solidFill>
              </a:rPr>
              <a:t> </a:t>
            </a:r>
            <a:endParaRPr sz="1100">
              <a:solidFill>
                <a:schemeClr val="dk1"/>
              </a:solidFill>
            </a:endParaRPr>
          </a:p>
          <a:p>
            <a:pPr indent="-282734" lvl="2" marL="1371600" rtl="0" algn="l">
              <a:spcBef>
                <a:spcPts val="0"/>
              </a:spcBef>
              <a:spcAft>
                <a:spcPts val="0"/>
              </a:spcAft>
              <a:buClr>
                <a:schemeClr val="dk1"/>
              </a:buClr>
              <a:buSzPct val="100000"/>
              <a:buAutoNum type="romanLcPeriod"/>
            </a:pPr>
            <a:r>
              <a:rPr lang="en" sz="1100">
                <a:solidFill>
                  <a:schemeClr val="dk1"/>
                </a:solidFill>
              </a:rPr>
              <a:t>Lock a stable 60 FPS </a:t>
            </a:r>
            <a:r>
              <a:rPr lang="en" sz="1100" u="sng">
                <a:solidFill>
                  <a:schemeClr val="dk1"/>
                </a:solidFill>
              </a:rPr>
              <a:t>(16.6 ms)</a:t>
            </a:r>
            <a:r>
              <a:rPr lang="en" sz="1100">
                <a:solidFill>
                  <a:schemeClr val="dk1"/>
                </a:solidFill>
              </a:rPr>
              <a:t> for PS5 (hardware) without compromising visual fidelity or mood.</a:t>
            </a:r>
            <a:endParaRPr sz="1100">
              <a:solidFill>
                <a:schemeClr val="dk1"/>
              </a:solidFill>
            </a:endParaRPr>
          </a:p>
          <a:p>
            <a:pPr indent="-282734" lvl="0" marL="457200" rtl="0" algn="l">
              <a:spcBef>
                <a:spcPts val="0"/>
              </a:spcBef>
              <a:spcAft>
                <a:spcPts val="0"/>
              </a:spcAft>
              <a:buClr>
                <a:schemeClr val="dk1"/>
              </a:buClr>
              <a:buSzPct val="100000"/>
              <a:buChar char="●"/>
            </a:pPr>
            <a:r>
              <a:rPr b="1" lang="en" sz="1100">
                <a:solidFill>
                  <a:schemeClr val="dk1"/>
                </a:solidFill>
              </a:rPr>
              <a:t>At this stage</a:t>
            </a:r>
            <a:endParaRPr sz="1100">
              <a:solidFill>
                <a:schemeClr val="dk1"/>
              </a:solidFill>
            </a:endParaRPr>
          </a:p>
          <a:p>
            <a:pPr indent="-282734" lvl="2" marL="1371600" rtl="0" algn="l">
              <a:spcBef>
                <a:spcPts val="0"/>
              </a:spcBef>
              <a:spcAft>
                <a:spcPts val="0"/>
              </a:spcAft>
              <a:buClr>
                <a:schemeClr val="dk1"/>
              </a:buClr>
              <a:buSzPct val="100000"/>
              <a:buAutoNum type="romanLcPeriod"/>
            </a:pPr>
            <a:r>
              <a:rPr lang="en" sz="1100">
                <a:solidFill>
                  <a:schemeClr val="dk1"/>
                </a:solidFill>
              </a:rPr>
              <a:t>The project averages </a:t>
            </a:r>
            <a:r>
              <a:rPr lang="en" sz="1100" u="sng">
                <a:solidFill>
                  <a:schemeClr val="dk1"/>
                </a:solidFill>
              </a:rPr>
              <a:t>57–62 FPS globally on Maxed out (AKA Epic) settings</a:t>
            </a:r>
            <a:r>
              <a:rPr b="1" lang="en" sz="1100">
                <a:solidFill>
                  <a:schemeClr val="dk1"/>
                </a:solidFill>
              </a:rPr>
              <a:t> </a:t>
            </a:r>
            <a:r>
              <a:rPr lang="en" sz="1100">
                <a:solidFill>
                  <a:schemeClr val="dk1"/>
                </a:solidFill>
              </a:rPr>
              <a:t>(That remain unchanged after setting it to lumen lite) (These include but are not limited to Nanite geometry, MegaLights direct lighting, Texture quality &amp; streaming and Niagara particle simulation </a:t>
            </a:r>
            <a:endParaRPr sz="1100">
              <a:solidFill>
                <a:schemeClr val="dk1"/>
              </a:solidFill>
            </a:endParaRPr>
          </a:p>
          <a:p>
            <a:pPr indent="-282734" lvl="2" marL="1371600" rtl="0" algn="l">
              <a:spcBef>
                <a:spcPts val="0"/>
              </a:spcBef>
              <a:spcAft>
                <a:spcPts val="0"/>
              </a:spcAft>
              <a:buClr>
                <a:schemeClr val="dk1"/>
              </a:buClr>
              <a:buSzPct val="100000"/>
              <a:buAutoNum type="romanLcPeriod"/>
            </a:pPr>
            <a:r>
              <a:rPr lang="en" sz="1100">
                <a:solidFill>
                  <a:schemeClr val="dk1"/>
                </a:solidFill>
              </a:rPr>
              <a:t>Dips into the 50s frames due to memory thrashing and uncapped passes, not hardware limits.</a:t>
            </a:r>
            <a:endParaRPr sz="1100">
              <a:solidFill>
                <a:schemeClr val="dk1"/>
              </a:solidFill>
            </a:endParaRPr>
          </a:p>
          <a:p>
            <a:pPr indent="0" lvl="0" marL="0" rtl="0" algn="l">
              <a:spcBef>
                <a:spcPts val="1200"/>
              </a:spcBef>
              <a:spcAft>
                <a:spcPts val="0"/>
              </a:spcAft>
              <a:buClr>
                <a:schemeClr val="dk1"/>
              </a:buClr>
              <a:buSzPct val="100000"/>
              <a:buFont typeface="Arial"/>
              <a:buNone/>
            </a:pPr>
            <a:r>
              <a:rPr b="1" lang="en" sz="1100">
                <a:solidFill>
                  <a:schemeClr val="dk1"/>
                </a:solidFill>
              </a:rPr>
              <a:t>Key Bottlenecks &amp; Fixes</a:t>
            </a:r>
            <a:endParaRPr b="1" sz="1100">
              <a:solidFill>
                <a:schemeClr val="dk1"/>
              </a:solidFill>
            </a:endParaRPr>
          </a:p>
          <a:p>
            <a:pPr indent="-282734" lvl="0" marL="457200" rtl="0" algn="l">
              <a:spcBef>
                <a:spcPts val="1200"/>
              </a:spcBef>
              <a:spcAft>
                <a:spcPts val="0"/>
              </a:spcAft>
              <a:buClr>
                <a:schemeClr val="dk1"/>
              </a:buClr>
              <a:buSzPct val="100000"/>
              <a:buChar char="●"/>
            </a:pPr>
            <a:r>
              <a:rPr b="1" lang="en" sz="1100">
                <a:solidFill>
                  <a:schemeClr val="dk1"/>
                </a:solidFill>
              </a:rPr>
              <a:t>RT Memory Budget:</a:t>
            </a:r>
            <a:r>
              <a:rPr lang="en" sz="1100">
                <a:solidFill>
                  <a:schemeClr val="dk1"/>
                </a:solidFill>
              </a:rPr>
              <a:t> Expanded default </a:t>
            </a:r>
            <a:r>
              <a:rPr lang="en" sz="1100" u="sng">
                <a:solidFill>
                  <a:schemeClr val="dk1"/>
                </a:solidFill>
              </a:rPr>
              <a:t>406 MB</a:t>
            </a:r>
            <a:r>
              <a:rPr lang="en" sz="1100">
                <a:solidFill>
                  <a:schemeClr val="dk1"/>
                </a:solidFill>
              </a:rPr>
              <a:t> pool to </a:t>
            </a:r>
            <a:r>
              <a:rPr lang="en" sz="1100" u="sng">
                <a:solidFill>
                  <a:schemeClr val="dk1"/>
                </a:solidFill>
              </a:rPr>
              <a:t>1024 MB</a:t>
            </a:r>
            <a:r>
              <a:rPr lang="en" sz="1100">
                <a:solidFill>
                  <a:schemeClr val="dk1"/>
                </a:solidFill>
              </a:rPr>
              <a:t>, permanently resolving DX12 BVH rebuild stalls.</a:t>
            </a:r>
            <a:endParaRPr sz="1100">
              <a:solidFill>
                <a:schemeClr val="dk1"/>
              </a:solidFill>
            </a:endParaRPr>
          </a:p>
          <a:p>
            <a:pPr indent="-282734" lvl="0" marL="457200" rtl="0" algn="l">
              <a:spcBef>
                <a:spcPts val="0"/>
              </a:spcBef>
              <a:spcAft>
                <a:spcPts val="0"/>
              </a:spcAft>
              <a:buClr>
                <a:schemeClr val="dk1"/>
              </a:buClr>
              <a:buSzPct val="100000"/>
              <a:buChar char="●"/>
            </a:pPr>
            <a:r>
              <a:rPr b="1" lang="en" sz="1100">
                <a:solidFill>
                  <a:schemeClr val="dk1"/>
                </a:solidFill>
              </a:rPr>
              <a:t>MegaLights Shadow Spikes:</a:t>
            </a:r>
            <a:r>
              <a:rPr lang="en" sz="1100">
                <a:solidFill>
                  <a:schemeClr val="dk1"/>
                </a:solidFill>
              </a:rPr>
              <a:t> Clamped lantern shadow draw distance to </a:t>
            </a:r>
            <a:r>
              <a:rPr lang="en" sz="1100" u="sng">
                <a:solidFill>
                  <a:schemeClr val="dk1"/>
                </a:solidFill>
              </a:rPr>
              <a:t>20 m (5 m fade)</a:t>
            </a:r>
            <a:r>
              <a:rPr lang="en" sz="1100">
                <a:solidFill>
                  <a:schemeClr val="dk1"/>
                </a:solidFill>
              </a:rPr>
              <a:t>, instantly recovering </a:t>
            </a:r>
            <a:r>
              <a:rPr lang="en" sz="1100" u="sng">
                <a:solidFill>
                  <a:schemeClr val="dk1"/>
                </a:solidFill>
              </a:rPr>
              <a:t>2–3 ms of GPU time</a:t>
            </a:r>
            <a:r>
              <a:rPr lang="en" sz="1100">
                <a:solidFill>
                  <a:schemeClr val="dk1"/>
                </a:solidFill>
              </a:rPr>
              <a:t>.</a:t>
            </a:r>
            <a:endParaRPr sz="1100">
              <a:solidFill>
                <a:schemeClr val="dk1"/>
              </a:solidFill>
            </a:endParaRPr>
          </a:p>
          <a:p>
            <a:pPr indent="-282734" lvl="0" marL="457200" rtl="0" algn="l">
              <a:spcBef>
                <a:spcPts val="0"/>
              </a:spcBef>
              <a:spcAft>
                <a:spcPts val="0"/>
              </a:spcAft>
              <a:buClr>
                <a:schemeClr val="dk1"/>
              </a:buClr>
              <a:buSzPct val="100000"/>
              <a:buChar char="●"/>
            </a:pPr>
            <a:r>
              <a:rPr b="1" lang="en" sz="1100">
                <a:solidFill>
                  <a:schemeClr val="dk1"/>
                </a:solidFill>
              </a:rPr>
              <a:t>Lumen Lite on Global Epic:</a:t>
            </a:r>
            <a:r>
              <a:rPr lang="en" sz="1100">
                <a:solidFill>
                  <a:schemeClr val="dk1"/>
                </a:solidFill>
              </a:rPr>
              <a:t> Kept geometry and direct lighting at Epic while capping probe gather (0.5) and roughness tracing (0.2)—saving ~1.5–2.0 ms of compute with zero loss to wet cobblestone specular fidelity.</a:t>
            </a:r>
            <a:endParaRPr sz="1100">
              <a:solidFill>
                <a:schemeClr val="dk1"/>
              </a:solidFill>
            </a:endParaRPr>
          </a:p>
          <a:p>
            <a:pPr indent="0" lvl="0" marL="0" rtl="0" algn="l">
              <a:spcBef>
                <a:spcPts val="1200"/>
              </a:spcBef>
              <a:spcAft>
                <a:spcPts val="0"/>
              </a:spcAft>
              <a:buNone/>
            </a:pPr>
            <a:r>
              <a:rPr b="1" lang="en" sz="1100">
                <a:solidFill>
                  <a:schemeClr val="dk1"/>
                </a:solidFill>
              </a:rPr>
              <a:t>Conclusion</a:t>
            </a:r>
            <a:endParaRPr sz="1100">
              <a:solidFill>
                <a:schemeClr val="dk1"/>
              </a:solidFill>
            </a:endParaRPr>
          </a:p>
          <a:p>
            <a:pPr indent="-282734" lvl="0" marL="457200" rtl="0" algn="l">
              <a:spcBef>
                <a:spcPts val="1200"/>
              </a:spcBef>
              <a:spcAft>
                <a:spcPts val="0"/>
              </a:spcAft>
              <a:buClr>
                <a:schemeClr val="dk1"/>
              </a:buClr>
              <a:buSzPct val="100000"/>
              <a:buChar char="●"/>
            </a:pPr>
            <a:r>
              <a:rPr lang="en" sz="1100">
                <a:solidFill>
                  <a:schemeClr val="dk1"/>
                </a:solidFill>
              </a:rPr>
              <a:t>The takeaway is that while Direct MegaLights and Nanite carry the heavy visual lifting (at our Epic quality setting), while trimming invisible Lumen overhead can bring the performance comfortably inside the 16.6 ms PS5 performance budget (and there are other things we can also lower outside of lumen settings to improve performance in the meantime.)</a:t>
            </a:r>
            <a:endParaRPr sz="1100">
              <a:solidFill>
                <a:schemeClr val="dk1"/>
              </a:solidFill>
            </a:endParaRPr>
          </a:p>
          <a:p>
            <a:pPr indent="0" lvl="0" marL="0" rtl="0" algn="l">
              <a:spcBef>
                <a:spcPts val="1200"/>
              </a:spcBef>
              <a:spcAft>
                <a:spcPts val="1200"/>
              </a:spcAft>
              <a:buNone/>
            </a:pPr>
            <a:r>
              <a:t/>
            </a:r>
            <a:endParaRPr/>
          </a:p>
        </p:txBody>
      </p:sp>
    </p:spTree>
  </p:cSld>
  <p:clrMapOvr>
    <a:masterClrMapping/>
  </p:clrMapOvr>
</p:sld>
</file>

<file path=ppt/theme/theme1.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